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5712" r:id="rId1"/>
  </p:sldMasterIdLst>
  <p:notesMasterIdLst>
    <p:notesMasterId r:id="rId59"/>
  </p:notesMasterIdLst>
  <p:sldIdLst>
    <p:sldId id="269" r:id="rId2"/>
    <p:sldId id="319" r:id="rId3"/>
    <p:sldId id="320" r:id="rId4"/>
    <p:sldId id="321" r:id="rId5"/>
    <p:sldId id="322" r:id="rId6"/>
    <p:sldId id="323" r:id="rId7"/>
    <p:sldId id="304" r:id="rId8"/>
    <p:sldId id="342" r:id="rId9"/>
    <p:sldId id="324" r:id="rId10"/>
    <p:sldId id="325" r:id="rId11"/>
    <p:sldId id="326" r:id="rId12"/>
    <p:sldId id="327" r:id="rId13"/>
    <p:sldId id="328" r:id="rId14"/>
    <p:sldId id="329" r:id="rId15"/>
    <p:sldId id="330" r:id="rId16"/>
    <p:sldId id="270" r:id="rId17"/>
    <p:sldId id="271" r:id="rId18"/>
    <p:sldId id="331" r:id="rId19"/>
    <p:sldId id="274" r:id="rId20"/>
    <p:sldId id="332" r:id="rId21"/>
    <p:sldId id="333" r:id="rId22"/>
    <p:sldId id="335" r:id="rId23"/>
    <p:sldId id="336" r:id="rId24"/>
    <p:sldId id="337" r:id="rId25"/>
    <p:sldId id="340" r:id="rId26"/>
    <p:sldId id="341" r:id="rId27"/>
    <p:sldId id="334" r:id="rId28"/>
    <p:sldId id="287" r:id="rId29"/>
    <p:sldId id="256" r:id="rId30"/>
    <p:sldId id="262" r:id="rId31"/>
    <p:sldId id="267" r:id="rId32"/>
    <p:sldId id="268" r:id="rId33"/>
    <p:sldId id="282" r:id="rId34"/>
    <p:sldId id="283" r:id="rId35"/>
    <p:sldId id="263" r:id="rId36"/>
    <p:sldId id="289" r:id="rId37"/>
    <p:sldId id="290" r:id="rId38"/>
    <p:sldId id="284" r:id="rId39"/>
    <p:sldId id="291" r:id="rId40"/>
    <p:sldId id="272" r:id="rId41"/>
    <p:sldId id="285" r:id="rId42"/>
    <p:sldId id="286" r:id="rId43"/>
    <p:sldId id="308" r:id="rId44"/>
    <p:sldId id="307" r:id="rId45"/>
    <p:sldId id="309" r:id="rId46"/>
    <p:sldId id="310" r:id="rId47"/>
    <p:sldId id="259" r:id="rId48"/>
    <p:sldId id="311" r:id="rId49"/>
    <p:sldId id="312" r:id="rId50"/>
    <p:sldId id="313" r:id="rId51"/>
    <p:sldId id="314" r:id="rId52"/>
    <p:sldId id="315" r:id="rId53"/>
    <p:sldId id="264" r:id="rId54"/>
    <p:sldId id="316" r:id="rId55"/>
    <p:sldId id="317" r:id="rId56"/>
    <p:sldId id="318" r:id="rId57"/>
    <p:sldId id="281" r:id="rId58"/>
  </p:sldIdLst>
  <p:sldSz cx="8128000" cy="4572000"/>
  <p:notesSz cx="8128000" cy="457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52" autoAdjust="0"/>
    <p:restoredTop sz="94660"/>
  </p:normalViewPr>
  <p:slideViewPr>
    <p:cSldViewPr>
      <p:cViewPr varScale="1">
        <p:scale>
          <a:sx n="116" d="100"/>
          <a:sy n="116" d="100"/>
        </p:scale>
        <p:origin x="114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Row Points for Disease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918474282824821E-2"/>
          <c:y val="0.10820626627483627"/>
          <c:w val="0.92694656988782087"/>
          <c:h val="0.82032099244946188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>
              <a:outerShdw blurRad="76200" dist="38100" dir="5400000" rotWithShape="0">
                <a:srgbClr val="000000">
                  <a:alpha val="75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tint val="96000"/>
                      <a:lumMod val="104000"/>
                    </a:schemeClr>
                  </a:gs>
                  <a:gs pos="100000">
                    <a:schemeClr val="accent1">
                      <a:shade val="90000"/>
                      <a:lumMod val="90000"/>
                    </a:schemeClr>
                  </a:gs>
                </a:gsLst>
                <a:lin ang="5400000" scaled="0"/>
              </a:gradFill>
              <a:ln w="9525" cap="rnd">
                <a:solidFill>
                  <a:schemeClr val="accent1"/>
                </a:solidFill>
                <a:round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Diabetes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B1A-4CDE-B2B1-B6FF9505CFD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Hypertension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B1A-4CDE-B2B1-B6FF9505CFD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Asthma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B1A-4CDE-B2B1-B6FF9505CFD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Kidney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B1A-4CDE-B2B1-B6FF9505CFD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dirty="0"/>
                      <a:t>Heart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B1A-4CDE-B2B1-B6FF9505CFD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dirty="0"/>
                      <a:t>Thyroid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B1A-4CDE-B2B1-B6FF9505CFD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dirty="0"/>
                      <a:t>Cancer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0B1A-4CDE-B2B1-B6FF9505CF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7"/>
              <c:pt idx="0">
                <c:v>-0.55806927466629719</c:v>
              </c:pt>
              <c:pt idx="1">
                <c:v>-8.3658676793510411E-2</c:v>
              </c:pt>
              <c:pt idx="2">
                <c:v>2.763783614619944E-2</c:v>
              </c:pt>
              <c:pt idx="3">
                <c:v>0.12521182740718231</c:v>
              </c:pt>
              <c:pt idx="4">
                <c:v>0.11025018214439671</c:v>
              </c:pt>
              <c:pt idx="5">
                <c:v>0.24216798996466099</c:v>
              </c:pt>
              <c:pt idx="6">
                <c:v>0.1337055535787664</c:v>
              </c:pt>
            </c:numLit>
          </c:xVal>
          <c:yVal>
            <c:numLit>
              <c:formatCode>General</c:formatCode>
              <c:ptCount val="7"/>
              <c:pt idx="0">
                <c:v>1.620695146333638E-2</c:v>
              </c:pt>
              <c:pt idx="1">
                <c:v>-0.19965933106996539</c:v>
              </c:pt>
              <c:pt idx="2">
                <c:v>0.16805164361846109</c:v>
              </c:pt>
              <c:pt idx="3">
                <c:v>1.383050973098441E-2</c:v>
              </c:pt>
              <c:pt idx="4">
                <c:v>6.5937265800656633E-2</c:v>
              </c:pt>
              <c:pt idx="5">
                <c:v>-0.1092698647644994</c:v>
              </c:pt>
              <c:pt idx="6">
                <c:v>4.0598224187245617E-2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7-0B1A-4CDE-B2B1-B6FF9505CF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52652384"/>
        <c:axId val="552625488"/>
      </c:scatterChart>
      <c:valAx>
        <c:axId val="5526523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Dimension 1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2625488"/>
        <c:crosses val="autoZero"/>
        <c:crossBetween val="midCat"/>
      </c:valAx>
      <c:valAx>
        <c:axId val="552625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Dimension 2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26523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8">
  <cs:axisTitle>
    <cs:lnRef idx="0"/>
    <cs:fillRef idx="0"/>
    <cs:effectRef idx="0"/>
    <cs:fontRef idx="minor">
      <a:schemeClr val="lt1">
        <a:lumMod val="7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22663" cy="228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03750" y="0"/>
            <a:ext cx="3522663" cy="228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87EF8-FC94-4D70-9584-69A90742D51A}" type="datetimeFigureOut">
              <a:rPr lang="en-US" smtClean="0"/>
              <a:t>3/22/2025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92400" y="571500"/>
            <a:ext cx="2743200" cy="1543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12800" y="2200275"/>
            <a:ext cx="6502400" cy="1800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343400"/>
            <a:ext cx="3522663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03750" y="4343400"/>
            <a:ext cx="3522663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5A250-B85D-4FC8-ACBC-8A897EEED4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921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5A250-B85D-4FC8-ACBC-8A897EEED4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558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D7124-FC48-4118-B26F-89895D26B03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723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5A250-B85D-4FC8-ACBC-8A897EEED40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321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E2401-B90A-40A2-8899-918761AB7894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76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E2401-B90A-40A2-8899-918761AB7894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48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795" y="1179694"/>
            <a:ext cx="6293356" cy="1219201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3795" y="2398893"/>
            <a:ext cx="6293356" cy="699911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463F-4FAD-4151-9859-F18D5A90EB0E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723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4E4F7-AD13-4269-9DE7-82375DCC32E9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365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1" y="1174045"/>
            <a:ext cx="6393700" cy="1219209"/>
          </a:xfrm>
        </p:spPr>
        <p:txBody>
          <a:bodyPr anchor="b"/>
          <a:lstStyle>
            <a:lvl1pPr algn="ctr">
              <a:defRPr sz="266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3601" y="2393253"/>
            <a:ext cx="6393700" cy="1004703"/>
          </a:xfrm>
        </p:spPr>
        <p:txBody>
          <a:bodyPr anchor="t"/>
          <a:lstStyle>
            <a:lvl1pPr marL="0" indent="0" algn="ctr">
              <a:buNone/>
              <a:defRPr sz="1333">
                <a:solidFill>
                  <a:schemeClr val="tx1"/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2F62-5C8B-4854-BD6E-201704062D93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513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197" y="1154966"/>
            <a:ext cx="3373665" cy="270583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35262" y="1154966"/>
            <a:ext cx="3376443" cy="270583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65CBB-0552-41D9-BD5A-63605C0DD75B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096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97" y="1156338"/>
            <a:ext cx="3392715" cy="2765846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990" y="1156338"/>
            <a:ext cx="3392715" cy="276584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81" y="1223503"/>
            <a:ext cx="3250896" cy="363256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0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581" y="1586758"/>
            <a:ext cx="3250896" cy="2274042"/>
          </a:xfrm>
        </p:spPr>
        <p:txBody>
          <a:bodyPr anchor="t">
            <a:normAutofit/>
          </a:bodyPr>
          <a:lstStyle>
            <a:lvl1pPr>
              <a:defRPr sz="1200"/>
            </a:lvl1pPr>
            <a:lvl2pPr>
              <a:defRPr sz="1067"/>
            </a:lvl2pPr>
            <a:lvl3pPr>
              <a:defRPr sz="933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96645" y="1223503"/>
            <a:ext cx="3263553" cy="363255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0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6645" y="1586758"/>
            <a:ext cx="3263553" cy="2274042"/>
          </a:xfrm>
        </p:spPr>
        <p:txBody>
          <a:bodyPr anchor="t">
            <a:normAutofit/>
          </a:bodyPr>
          <a:lstStyle>
            <a:lvl1pPr>
              <a:defRPr sz="1200"/>
            </a:lvl1pPr>
            <a:lvl2pPr>
              <a:defRPr sz="1067"/>
            </a:lvl2pPr>
            <a:lvl3pPr>
              <a:defRPr sz="933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F16EA-2A1A-436B-9835-3583FEB2E481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61050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F6D9A-3DEE-4F29-8B1A-C187533ED82B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82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13A1A-5995-42AD-83EA-55843CC4FB83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551286" y="0"/>
            <a:ext cx="4448577" cy="24341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967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197" y="406400"/>
            <a:ext cx="2471259" cy="1214612"/>
          </a:xfrm>
        </p:spPr>
        <p:txBody>
          <a:bodyPr anchor="b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7089" y="406400"/>
            <a:ext cx="4274616" cy="3454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197" y="1621012"/>
            <a:ext cx="2471259" cy="2239787"/>
          </a:xfrm>
        </p:spPr>
        <p:txBody>
          <a:bodyPr anchor="t">
            <a:normAutofit/>
          </a:bodyPr>
          <a:lstStyle>
            <a:lvl1pPr marL="0" indent="0" algn="ctr">
              <a:buNone/>
              <a:defRPr sz="1067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777BA-512C-4320-B538-D0B463DE3F2A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49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443" y="406400"/>
            <a:ext cx="2389444" cy="34698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197" y="406615"/>
            <a:ext cx="3956633" cy="1219559"/>
          </a:xfrm>
        </p:spPr>
        <p:txBody>
          <a:bodyPr anchor="b">
            <a:noAutofit/>
          </a:bodyPr>
          <a:lstStyle>
            <a:lvl1pPr algn="ctr">
              <a:defRPr sz="213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61701" y="509135"/>
            <a:ext cx="2183834" cy="3275215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067"/>
            </a:lvl1pPr>
            <a:lvl2pPr marL="304815" indent="0">
              <a:buNone/>
              <a:defRPr sz="1067"/>
            </a:lvl2pPr>
            <a:lvl3pPr marL="609630" indent="0">
              <a:buNone/>
              <a:defRPr sz="1067"/>
            </a:lvl3pPr>
            <a:lvl4pPr marL="914446" indent="0">
              <a:buNone/>
              <a:defRPr sz="1067"/>
            </a:lvl4pPr>
            <a:lvl5pPr marL="1219261" indent="0">
              <a:buNone/>
              <a:defRPr sz="1067"/>
            </a:lvl5pPr>
            <a:lvl6pPr marL="1524076" indent="0">
              <a:buNone/>
              <a:defRPr sz="1067"/>
            </a:lvl6pPr>
            <a:lvl7pPr marL="1828891" indent="0">
              <a:buNone/>
              <a:defRPr sz="1067"/>
            </a:lvl7pPr>
            <a:lvl8pPr marL="2133707" indent="0">
              <a:buNone/>
              <a:defRPr sz="1067"/>
            </a:lvl8pPr>
            <a:lvl9pPr marL="2438522" indent="0">
              <a:buNone/>
              <a:defRPr sz="1067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197" y="1626174"/>
            <a:ext cx="3956633" cy="2250756"/>
          </a:xfrm>
        </p:spPr>
        <p:txBody>
          <a:bodyPr anchor="t">
            <a:normAutofit/>
          </a:bodyPr>
          <a:lstStyle>
            <a:lvl1pPr marL="0" indent="0" algn="ctr">
              <a:buNone/>
              <a:defRPr sz="1067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255C-46CE-4A86-8E45-77F8DFB4363E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063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23" y="365205"/>
            <a:ext cx="6761199" cy="25445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204" y="3043503"/>
            <a:ext cx="6903551" cy="362315"/>
          </a:xfrm>
        </p:spPr>
        <p:txBody>
          <a:bodyPr anchor="b">
            <a:normAutofit/>
          </a:bodyPr>
          <a:lstStyle>
            <a:lvl1pPr algn="ctr">
              <a:defRPr sz="18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9566" y="463340"/>
            <a:ext cx="6563564" cy="2350447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33"/>
            </a:lvl1pPr>
            <a:lvl2pPr marL="304815" indent="0">
              <a:buNone/>
              <a:defRPr sz="1333"/>
            </a:lvl2pPr>
            <a:lvl3pPr marL="609630" indent="0">
              <a:buNone/>
              <a:defRPr sz="1333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197" y="3405819"/>
            <a:ext cx="6902508" cy="454981"/>
          </a:xfrm>
        </p:spPr>
        <p:txBody>
          <a:bodyPr anchor="t"/>
          <a:lstStyle>
            <a:lvl1pPr marL="0" indent="0" algn="ctr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F16EA-2A1A-436B-9835-3583FEB2E481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3647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197" y="405625"/>
            <a:ext cx="6902508" cy="2356229"/>
          </a:xfrm>
        </p:spPr>
        <p:txBody>
          <a:bodyPr anchor="ctr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196" y="2863454"/>
            <a:ext cx="6902509" cy="1001217"/>
          </a:xfrm>
        </p:spPr>
        <p:txBody>
          <a:bodyPr anchor="ctr"/>
          <a:lstStyle>
            <a:lvl1pPr marL="0" indent="0" algn="ctr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F16EA-2A1A-436B-9835-3583FEB2E481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89417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141" y="406400"/>
            <a:ext cx="6201835" cy="1995269"/>
          </a:xfrm>
        </p:spPr>
        <p:txBody>
          <a:bodyPr anchor="ctr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47096" y="2406688"/>
            <a:ext cx="5834866" cy="355166"/>
          </a:xfrm>
        </p:spPr>
        <p:txBody>
          <a:bodyPr anchor="t">
            <a:normAutofit/>
          </a:bodyPr>
          <a:lstStyle>
            <a:lvl1pPr marL="0" indent="0" algn="r">
              <a:buNone/>
              <a:defRPr sz="933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196" y="2869569"/>
            <a:ext cx="6902509" cy="9929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F16EA-2A1A-436B-9835-3583FEB2E481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60400" y="589864"/>
            <a:ext cx="406400" cy="389851"/>
          </a:xfrm>
          <a:prstGeom prst="rect">
            <a:avLst/>
          </a:prstGeom>
        </p:spPr>
        <p:txBody>
          <a:bodyPr vert="horz" lIns="60960" tIns="30480" rIns="60960" bIns="304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33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3144" y="1952172"/>
            <a:ext cx="406400" cy="389851"/>
          </a:xfrm>
          <a:prstGeom prst="rect">
            <a:avLst/>
          </a:prstGeom>
        </p:spPr>
        <p:txBody>
          <a:bodyPr vert="horz" lIns="60960" tIns="30480" rIns="60960" bIns="304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334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709349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196" y="1417962"/>
            <a:ext cx="6902509" cy="1674557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190" y="3100371"/>
            <a:ext cx="6901466" cy="760429"/>
          </a:xfrm>
        </p:spPr>
        <p:txBody>
          <a:bodyPr anchor="t"/>
          <a:lstStyle>
            <a:lvl1pPr marL="0" indent="0" algn="ctr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F16EA-2A1A-436B-9835-3583FEB2E481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4099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09197" y="406400"/>
            <a:ext cx="6902508" cy="64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09197" y="1257300"/>
            <a:ext cx="2200656" cy="384175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09197" y="1714500"/>
            <a:ext cx="2200656" cy="2146300"/>
          </a:xfrm>
        </p:spPr>
        <p:txBody>
          <a:bodyPr anchor="t">
            <a:normAutofit/>
          </a:bodyPr>
          <a:lstStyle>
            <a:lvl1pPr marL="0" indent="0" algn="ctr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4474" y="1257300"/>
            <a:ext cx="2200656" cy="384175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60957" y="1714500"/>
            <a:ext cx="2200656" cy="2146300"/>
          </a:xfrm>
        </p:spPr>
        <p:txBody>
          <a:bodyPr anchor="t">
            <a:normAutofit/>
          </a:bodyPr>
          <a:lstStyle>
            <a:lvl1pPr marL="0" indent="0" algn="ctr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11048" y="1257300"/>
            <a:ext cx="2200656" cy="384175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11048" y="1714500"/>
            <a:ext cx="2200656" cy="2146300"/>
          </a:xfrm>
        </p:spPr>
        <p:txBody>
          <a:bodyPr anchor="t">
            <a:normAutofit/>
          </a:bodyPr>
          <a:lstStyle>
            <a:lvl1pPr marL="0" indent="0" algn="ctr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F16EA-2A1A-436B-9835-3583FEB2E481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30049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41" y="1212143"/>
            <a:ext cx="2226648" cy="123190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867" y="1212143"/>
            <a:ext cx="2226648" cy="123190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701" y="1212143"/>
            <a:ext cx="2226648" cy="123190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09196" y="406400"/>
            <a:ext cx="6902509" cy="64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09197" y="2602737"/>
            <a:ext cx="2200656" cy="384175"/>
          </a:xfrm>
        </p:spPr>
        <p:txBody>
          <a:bodyPr anchor="b">
            <a:noAutofit/>
          </a:bodyPr>
          <a:lstStyle>
            <a:lvl1pPr marL="0" indent="0" algn="ctr">
              <a:buNone/>
              <a:defRPr sz="1333" b="0">
                <a:solidFill>
                  <a:schemeClr val="tx1"/>
                </a:solidFill>
              </a:defRPr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78735" y="1292612"/>
            <a:ext cx="2061579" cy="1068636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067"/>
            </a:lvl1pPr>
            <a:lvl2pPr marL="304815" indent="0">
              <a:buNone/>
              <a:defRPr sz="1067"/>
            </a:lvl2pPr>
            <a:lvl3pPr marL="609630" indent="0">
              <a:buNone/>
              <a:defRPr sz="1067"/>
            </a:lvl3pPr>
            <a:lvl4pPr marL="914446" indent="0">
              <a:buNone/>
              <a:defRPr sz="1067"/>
            </a:lvl4pPr>
            <a:lvl5pPr marL="1219261" indent="0">
              <a:buNone/>
              <a:defRPr sz="1067"/>
            </a:lvl5pPr>
            <a:lvl6pPr marL="1524076" indent="0">
              <a:buNone/>
              <a:defRPr sz="1067"/>
            </a:lvl6pPr>
            <a:lvl7pPr marL="1828891" indent="0">
              <a:buNone/>
              <a:defRPr sz="1067"/>
            </a:lvl7pPr>
            <a:lvl8pPr marL="2133707" indent="0">
              <a:buNone/>
              <a:defRPr sz="1067"/>
            </a:lvl8pPr>
            <a:lvl9pPr marL="2438522" indent="0">
              <a:buNone/>
              <a:defRPr sz="1067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09197" y="2986912"/>
            <a:ext cx="2200656" cy="873889"/>
          </a:xfrm>
        </p:spPr>
        <p:txBody>
          <a:bodyPr anchor="t">
            <a:normAutofit/>
          </a:bodyPr>
          <a:lstStyle>
            <a:lvl1pPr marL="0" indent="0" algn="ctr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1859" y="2602737"/>
            <a:ext cx="2200656" cy="384175"/>
          </a:xfrm>
        </p:spPr>
        <p:txBody>
          <a:bodyPr anchor="b">
            <a:noAutofit/>
          </a:bodyPr>
          <a:lstStyle>
            <a:lvl1pPr marL="0" indent="0" algn="ctr">
              <a:buNone/>
              <a:defRPr sz="1333" b="0">
                <a:solidFill>
                  <a:schemeClr val="tx1"/>
                </a:solidFill>
              </a:defRPr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030495" y="1292730"/>
            <a:ext cx="2061579" cy="1072109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067"/>
            </a:lvl1pPr>
            <a:lvl2pPr marL="304815" indent="0">
              <a:buNone/>
              <a:defRPr sz="1067"/>
            </a:lvl2pPr>
            <a:lvl3pPr marL="609630" indent="0">
              <a:buNone/>
              <a:defRPr sz="1067"/>
            </a:lvl3pPr>
            <a:lvl4pPr marL="914446" indent="0">
              <a:buNone/>
              <a:defRPr sz="1067"/>
            </a:lvl4pPr>
            <a:lvl5pPr marL="1219261" indent="0">
              <a:buNone/>
              <a:defRPr sz="1067"/>
            </a:lvl5pPr>
            <a:lvl6pPr marL="1524076" indent="0">
              <a:buNone/>
              <a:defRPr sz="1067"/>
            </a:lvl6pPr>
            <a:lvl7pPr marL="1828891" indent="0">
              <a:buNone/>
              <a:defRPr sz="1067"/>
            </a:lvl7pPr>
            <a:lvl8pPr marL="2133707" indent="0">
              <a:buNone/>
              <a:defRPr sz="1067"/>
            </a:lvl8pPr>
            <a:lvl9pPr marL="2438522" indent="0">
              <a:buNone/>
              <a:defRPr sz="1067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60957" y="2986912"/>
            <a:ext cx="2200656" cy="873889"/>
          </a:xfrm>
        </p:spPr>
        <p:txBody>
          <a:bodyPr anchor="t">
            <a:normAutofit/>
          </a:bodyPr>
          <a:lstStyle>
            <a:lvl1pPr marL="0" indent="0" algn="ctr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11131" y="2602737"/>
            <a:ext cx="2200656" cy="384175"/>
          </a:xfrm>
        </p:spPr>
        <p:txBody>
          <a:bodyPr anchor="b">
            <a:noAutofit/>
          </a:bodyPr>
          <a:lstStyle>
            <a:lvl1pPr marL="0" indent="0" algn="ctr">
              <a:buNone/>
              <a:defRPr sz="1333" b="0">
                <a:solidFill>
                  <a:schemeClr val="tx1"/>
                </a:solidFill>
              </a:defRPr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83799" y="1289622"/>
            <a:ext cx="2061579" cy="1071529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067"/>
            </a:lvl1pPr>
            <a:lvl2pPr marL="304815" indent="0">
              <a:buNone/>
              <a:defRPr sz="1067"/>
            </a:lvl2pPr>
            <a:lvl3pPr marL="609630" indent="0">
              <a:buNone/>
              <a:defRPr sz="1067"/>
            </a:lvl3pPr>
            <a:lvl4pPr marL="914446" indent="0">
              <a:buNone/>
              <a:defRPr sz="1067"/>
            </a:lvl4pPr>
            <a:lvl5pPr marL="1219261" indent="0">
              <a:buNone/>
              <a:defRPr sz="1067"/>
            </a:lvl5pPr>
            <a:lvl6pPr marL="1524076" indent="0">
              <a:buNone/>
              <a:defRPr sz="1067"/>
            </a:lvl6pPr>
            <a:lvl7pPr marL="1828891" indent="0">
              <a:buNone/>
              <a:defRPr sz="1067"/>
            </a:lvl7pPr>
            <a:lvl8pPr marL="2133707" indent="0">
              <a:buNone/>
              <a:defRPr sz="1067"/>
            </a:lvl8pPr>
            <a:lvl9pPr marL="2438522" indent="0">
              <a:buNone/>
              <a:defRPr sz="1067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11048" y="2986910"/>
            <a:ext cx="2200656" cy="873890"/>
          </a:xfrm>
        </p:spPr>
        <p:txBody>
          <a:bodyPr anchor="t">
            <a:normAutofit/>
          </a:bodyPr>
          <a:lstStyle>
            <a:lvl1pPr marL="0" indent="0" algn="ctr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F16EA-2A1A-436B-9835-3583FEB2E481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1394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BD9B-B577-4516-8E39-778B54D1381D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2921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88713" y="406400"/>
            <a:ext cx="1522991" cy="34544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197" y="406400"/>
            <a:ext cx="5277915" cy="34544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07581-D002-46B7-BE86-9223B75EB3EA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4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ODS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"/>
          </p:nvPr>
        </p:nvSpPr>
        <p:spPr>
          <a:xfrm>
            <a:off x="203200" y="152401"/>
            <a:ext cx="7721600" cy="493607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Table Placeholder 1"/>
          <p:cNvSpPr>
            <a:spLocks noGrp="1"/>
          </p:cNvSpPr>
          <p:nvPr>
            <p:ph type="tbl" idx="2"/>
          </p:nvPr>
        </p:nvSpPr>
        <p:spPr>
          <a:xfrm>
            <a:off x="2423727" y="688340"/>
            <a:ext cx="3279987" cy="838200"/>
          </a:xfrm>
        </p:spPr>
      </p:sp>
      <p:sp>
        <p:nvSpPr>
          <p:cNvPr id="4" name="Date Placeholder"/>
          <p:cNvSpPr>
            <a:spLocks noGrp="1"/>
          </p:cNvSpPr>
          <p:nvPr>
            <p:ph type="dt" sz="half" idx="3"/>
          </p:nvPr>
        </p:nvSpPr>
        <p:spPr>
          <a:xfrm>
            <a:off x="203200" y="4247305"/>
            <a:ext cx="1930400" cy="172297"/>
          </a:xfrm>
        </p:spPr>
        <p:txBody>
          <a:bodyPr/>
          <a:lstStyle/>
          <a:p>
            <a:fld id="{403EDF10-2C3A-4D3E-8259-80C2900F5F2B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5994400" y="4247305"/>
            <a:ext cx="1930400" cy="172297"/>
          </a:xfrm>
        </p:spPr>
        <p:txBody>
          <a:bodyPr/>
          <a:lstStyle/>
          <a:p>
            <a:fld id="{02D6B0F3-963C-5F4D-B2DF-270CE0D4EAA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1561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ODS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1"/>
          <p:cNvSpPr>
            <a:spLocks noGrp="1"/>
          </p:cNvSpPr>
          <p:nvPr>
            <p:ph type="tbl" idx="1"/>
          </p:nvPr>
        </p:nvSpPr>
        <p:spPr>
          <a:xfrm>
            <a:off x="1995877" y="474134"/>
            <a:ext cx="4136249" cy="558800"/>
          </a:xfrm>
        </p:spPr>
      </p:sp>
      <p:sp>
        <p:nvSpPr>
          <p:cNvPr id="3" name="Date Placeholder"/>
          <p:cNvSpPr>
            <a:spLocks noGrp="1"/>
          </p:cNvSpPr>
          <p:nvPr>
            <p:ph type="dt" sz="half" idx="2"/>
          </p:nvPr>
        </p:nvSpPr>
        <p:spPr>
          <a:xfrm>
            <a:off x="203200" y="4247307"/>
            <a:ext cx="1930400" cy="172297"/>
          </a:xfrm>
        </p:spPr>
        <p:txBody>
          <a:bodyPr/>
          <a:lstStyle/>
          <a:p>
            <a:fld id="{47855F0F-3285-474C-98A6-8BCCEC4993B7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994400" y="4247307"/>
            <a:ext cx="1930400" cy="172297"/>
          </a:xfrm>
        </p:spPr>
        <p:txBody>
          <a:bodyPr/>
          <a:lstStyle/>
          <a:p>
            <a:fld id="{1D33DADB-31B5-DF45-93CB-D6B5C71A14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757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197" y="406400"/>
            <a:ext cx="6902508" cy="64696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197" y="1154966"/>
            <a:ext cx="6902508" cy="270583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19157" y="3922184"/>
            <a:ext cx="18288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7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7DF16EA-2A1A-436B-9835-3583FEB2E481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197" y="3922184"/>
            <a:ext cx="4448577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7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09341" y="3922184"/>
            <a:ext cx="502363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7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5727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713" r:id="rId1"/>
    <p:sldLayoutId id="2147485714" r:id="rId2"/>
    <p:sldLayoutId id="2147485715" r:id="rId3"/>
    <p:sldLayoutId id="2147485716" r:id="rId4"/>
    <p:sldLayoutId id="2147485717" r:id="rId5"/>
    <p:sldLayoutId id="2147485718" r:id="rId6"/>
    <p:sldLayoutId id="2147485719" r:id="rId7"/>
    <p:sldLayoutId id="2147485720" r:id="rId8"/>
    <p:sldLayoutId id="2147485721" r:id="rId9"/>
    <p:sldLayoutId id="2147485722" r:id="rId10"/>
    <p:sldLayoutId id="2147485723" r:id="rId11"/>
    <p:sldLayoutId id="2147485724" r:id="rId12"/>
    <p:sldLayoutId id="2147485725" r:id="rId13"/>
    <p:sldLayoutId id="2147485726" r:id="rId14"/>
    <p:sldLayoutId id="2147485727" r:id="rId15"/>
    <p:sldLayoutId id="2147485728" r:id="rId16"/>
    <p:sldLayoutId id="2147485729" r:id="rId17"/>
    <p:sldLayoutId id="2147485730" r:id="rId18"/>
    <p:sldLayoutId id="2147485731" r:id="rId19"/>
  </p:sldLayoutIdLst>
  <p:hf hdr="0" ftr="0" dt="0"/>
  <p:txStyles>
    <p:titleStyle>
      <a:lvl1pPr algn="ctr" defTabSz="304815" rtl="0" eaLnBrk="1" latinLnBrk="0" hangingPunct="1">
        <a:spcBef>
          <a:spcPct val="0"/>
        </a:spcBef>
        <a:buNone/>
        <a:defRPr sz="2667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11" indent="-204010" algn="l" defTabSz="304815" rtl="0" eaLnBrk="1" latinLnBrk="0" hangingPunct="1">
        <a:spcBef>
          <a:spcPct val="20000"/>
        </a:spcBef>
        <a:spcAft>
          <a:spcPts val="400"/>
        </a:spcAft>
        <a:buClr>
          <a:schemeClr val="tx2"/>
        </a:buClr>
        <a:buSzPct val="70000"/>
        <a:buFont typeface="Wingdings 2" charset="2"/>
        <a:buChar char=""/>
        <a:defRPr sz="1333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480024" indent="-180009" algn="l" defTabSz="304815" rtl="0" eaLnBrk="1" latinLnBrk="0" hangingPunct="1">
        <a:spcBef>
          <a:spcPct val="20000"/>
        </a:spcBef>
        <a:spcAft>
          <a:spcPts val="400"/>
        </a:spcAft>
        <a:buClr>
          <a:schemeClr val="tx2"/>
        </a:buClr>
        <a:buSzPct val="70000"/>
        <a:buFont typeface="Wingdings 2" charset="2"/>
        <a:buChar char=""/>
        <a:defRPr sz="12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684034" indent="-144007" algn="l" defTabSz="304815" rtl="0" eaLnBrk="1" latinLnBrk="0" hangingPunct="1">
        <a:spcBef>
          <a:spcPct val="20000"/>
        </a:spcBef>
        <a:spcAft>
          <a:spcPts val="400"/>
        </a:spcAft>
        <a:buClr>
          <a:schemeClr val="tx2"/>
        </a:buClr>
        <a:buSzPct val="70000"/>
        <a:buFont typeface="Wingdings 2" charset="2"/>
        <a:buChar char=""/>
        <a:defRPr sz="1067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924046" indent="-144007" algn="l" defTabSz="304815" rtl="0" eaLnBrk="1" latinLnBrk="0" hangingPunct="1">
        <a:spcBef>
          <a:spcPct val="20000"/>
        </a:spcBef>
        <a:spcAft>
          <a:spcPts val="400"/>
        </a:spcAft>
        <a:buClr>
          <a:schemeClr val="tx2"/>
        </a:buClr>
        <a:buSzPct val="70000"/>
        <a:buFont typeface="Wingdings 2" charset="2"/>
        <a:buChar char=""/>
        <a:defRPr sz="933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116056" indent="-144007" algn="l" defTabSz="304815" rtl="0" eaLnBrk="1" latinLnBrk="0" hangingPunct="1">
        <a:spcBef>
          <a:spcPct val="20000"/>
        </a:spcBef>
        <a:spcAft>
          <a:spcPts val="400"/>
        </a:spcAft>
        <a:buClr>
          <a:schemeClr val="tx2"/>
        </a:buClr>
        <a:buSzPct val="70000"/>
        <a:buFont typeface="Wingdings 2" charset="2"/>
        <a:buChar char=""/>
        <a:defRPr sz="933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1343134" indent="-152408" algn="l" defTabSz="304815" rtl="0" eaLnBrk="1" latinLnBrk="0" hangingPunct="1">
        <a:spcBef>
          <a:spcPct val="20000"/>
        </a:spcBef>
        <a:spcAft>
          <a:spcPts val="400"/>
        </a:spcAft>
        <a:buClr>
          <a:schemeClr val="tx2"/>
        </a:buClr>
        <a:buSzPct val="70000"/>
        <a:buFont typeface="Wingdings 2" charset="2"/>
        <a:buChar char=""/>
        <a:defRPr sz="933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1601280" indent="-152408" algn="l" defTabSz="304815" rtl="0" eaLnBrk="1" latinLnBrk="0" hangingPunct="1">
        <a:spcBef>
          <a:spcPct val="20000"/>
        </a:spcBef>
        <a:spcAft>
          <a:spcPts val="400"/>
        </a:spcAft>
        <a:buClr>
          <a:schemeClr val="tx2"/>
        </a:buClr>
        <a:buSzPct val="70000"/>
        <a:buFont typeface="Wingdings 2" charset="2"/>
        <a:buChar char=""/>
        <a:defRPr sz="933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1859426" indent="-152408" algn="l" defTabSz="304815" rtl="0" eaLnBrk="1" latinLnBrk="0" hangingPunct="1">
        <a:spcBef>
          <a:spcPct val="20000"/>
        </a:spcBef>
        <a:spcAft>
          <a:spcPts val="400"/>
        </a:spcAft>
        <a:buClr>
          <a:schemeClr val="tx2"/>
        </a:buClr>
        <a:buSzPct val="70000"/>
        <a:buFont typeface="Wingdings 2" charset="2"/>
        <a:buChar char=""/>
        <a:defRPr sz="933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2070904" indent="-152408" algn="l" defTabSz="304815" rtl="0" eaLnBrk="1" latinLnBrk="0" hangingPunct="1">
        <a:spcBef>
          <a:spcPct val="20000"/>
        </a:spcBef>
        <a:spcAft>
          <a:spcPts val="400"/>
        </a:spcAft>
        <a:buClr>
          <a:schemeClr val="tx2"/>
        </a:buClr>
        <a:buSzPct val="70000"/>
        <a:buFont typeface="Wingdings 2" charset="2"/>
        <a:buChar char=""/>
        <a:defRPr sz="933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8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3048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3048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3048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3048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3048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3048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3048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3048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ampling_(statistics)" TargetMode="External"/><Relationship Id="rId7" Type="http://schemas.openxmlformats.org/officeDocument/2006/relationships/hyperlink" Target="https://en.wikipedia.org/wiki/Length" TargetMode="External"/><Relationship Id="rId2" Type="http://schemas.openxmlformats.org/officeDocument/2006/relationships/hyperlink" Target="https://en.wikipedia.org/wiki/Frequency_distribution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en.wikipedia.org/wiki/Rectangle" TargetMode="External"/><Relationship Id="rId5" Type="http://schemas.openxmlformats.org/officeDocument/2006/relationships/hyperlink" Target="https://en.wikipedia.org/wiki/Chart" TargetMode="External"/><Relationship Id="rId4" Type="http://schemas.openxmlformats.org/officeDocument/2006/relationships/hyperlink" Target="https://en.wikipedia.org/wiki/Statistical_distributio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tatistical_hypothesis_testi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n.wikipedia.org/wiki/Contingency_table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5ED47-A9A4-2AE1-AD8E-81F9F4F4C2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1F09F9-DC3D-01B9-3CF1-C34DE3F14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0" y="31256"/>
            <a:ext cx="1357423" cy="13449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C08EB0-2136-8276-C4DD-8B915CAA5E13}"/>
              </a:ext>
            </a:extLst>
          </p:cNvPr>
          <p:cNvSpPr txBox="1"/>
          <p:nvPr/>
        </p:nvSpPr>
        <p:spPr>
          <a:xfrm>
            <a:off x="1854200" y="2162258"/>
            <a:ext cx="406146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67" dirty="0">
                <a:solidFill>
                  <a:srgbClr val="00206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PROJECT TOPIC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65CB1C-B0F3-B226-DA2F-3E273F4DC8BF}"/>
              </a:ext>
            </a:extLst>
          </p:cNvPr>
          <p:cNvSpPr txBox="1"/>
          <p:nvPr/>
        </p:nvSpPr>
        <p:spPr>
          <a:xfrm>
            <a:off x="2036008" y="1394238"/>
            <a:ext cx="406146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33" b="1" dirty="0">
                <a:uFill>
                  <a:solidFill>
                    <a:srgbClr val="92D050"/>
                  </a:solidFill>
                </a:uFill>
                <a:latin typeface="Times New Roman" panose="02020603050405020304" pitchFamily="18" charset="0"/>
              </a:rPr>
              <a:t>S</a:t>
            </a:r>
            <a:r>
              <a:rPr lang="en-IN" sz="1333" b="1" dirty="0">
                <a:uFill>
                  <a:solidFill>
                    <a:srgbClr val="92D050"/>
                  </a:solidFill>
                </a:uFill>
                <a:latin typeface="Times New Roman" panose="02020603050405020304" pitchFamily="18" charset="0"/>
              </a:rPr>
              <a:t>ARDAR PATEL UNIVERSITY </a:t>
            </a:r>
            <a:endParaRPr lang="en-IN" sz="1333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6BD99C-2E10-01D4-3F86-68617D26D00A}"/>
              </a:ext>
            </a:extLst>
          </p:cNvPr>
          <p:cNvSpPr txBox="1"/>
          <p:nvPr/>
        </p:nvSpPr>
        <p:spPr>
          <a:xfrm>
            <a:off x="2036008" y="1688496"/>
            <a:ext cx="4061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>
                <a:uFill>
                  <a:solidFill>
                    <a:srgbClr val="92D050"/>
                  </a:solidFill>
                </a:uFill>
                <a:latin typeface="Times New Roman" panose="02020603050405020304" pitchFamily="18" charset="0"/>
              </a:rPr>
              <a:t>DEPARTMENT OF STATISTICS</a:t>
            </a:r>
            <a:endParaRPr lang="en-IN" u="sn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3A2EA8-5F8D-44AB-9A62-AFF9A27E0F7B}"/>
              </a:ext>
            </a:extLst>
          </p:cNvPr>
          <p:cNvSpPr txBox="1"/>
          <p:nvPr/>
        </p:nvSpPr>
        <p:spPr>
          <a:xfrm>
            <a:off x="5233181" y="3593691"/>
            <a:ext cx="2894819" cy="953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RESENTED BY</a:t>
            </a:r>
          </a:p>
          <a:p>
            <a:pPr algn="ctr"/>
            <a:r>
              <a:rPr lang="en-IN" sz="13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Prajapati Monu</a:t>
            </a:r>
          </a:p>
          <a:p>
            <a:pPr lvl="1"/>
            <a:r>
              <a:rPr lang="en-IN" sz="13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06 </a:t>
            </a:r>
          </a:p>
          <a:p>
            <a:pPr algn="ctr"/>
            <a:r>
              <a:rPr lang="en-IN" sz="13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Applied Statistics( Sem 4)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58F713D-9B56-F470-FD11-B7AC5E3CB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504" y="2553882"/>
            <a:ext cx="621676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"Analysis of Chronic Disease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Contributing Factors in India Using NFHS </a:t>
            </a:r>
            <a:r>
              <a:rPr lang="en-US" altLang="en-US" dirty="0">
                <a:latin typeface="Arial" panose="020B0604020202020204" pitchFamily="34" charset="0"/>
              </a:rPr>
              <a:t>Secondary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Data"</a:t>
            </a:r>
          </a:p>
        </p:txBody>
      </p:sp>
    </p:spTree>
    <p:extLst>
      <p:ext uri="{BB962C8B-B14F-4D97-AF65-F5344CB8AC3E}">
        <p14:creationId xmlns:p14="http://schemas.microsoft.com/office/powerpoint/2010/main" val="33455367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75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DCC316CC-3BF3-730D-1F72-AEB0D6CB5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530322"/>
              </p:ext>
            </p:extLst>
          </p:nvPr>
        </p:nvGraphicFramePr>
        <p:xfrm>
          <a:off x="1088322" y="97434"/>
          <a:ext cx="6172200" cy="4377132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067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7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872">
                <a:tc>
                  <a:txBody>
                    <a:bodyPr/>
                    <a:lstStyle/>
                    <a:p>
                      <a:pPr marL="172720" algn="ctr">
                        <a:lnSpc>
                          <a:spcPts val="1635"/>
                        </a:lnSpc>
                      </a:pPr>
                      <a:r>
                        <a:rPr sz="1050" b="1" spc="-25" dirty="0"/>
                        <a:t>Sr</a:t>
                      </a:r>
                      <a:r>
                        <a:rPr lang="en-US" sz="1050" b="1" spc="-25" dirty="0"/>
                        <a:t> . No.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endParaRPr sz="105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spc="-10" dirty="0"/>
                        <a:t>Contents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4978" marB="0"/>
                </a:tc>
                <a:tc>
                  <a:txBody>
                    <a:bodyPr/>
                    <a:lstStyle/>
                    <a:p>
                      <a:pPr marL="183515" algn="ctr">
                        <a:lnSpc>
                          <a:spcPts val="1635"/>
                        </a:lnSpc>
                      </a:pPr>
                      <a:r>
                        <a:rPr sz="1000" b="1" spc="-20" dirty="0"/>
                        <a:t>Pag</a:t>
                      </a:r>
                      <a:r>
                        <a:rPr lang="en-US" sz="1000" b="1" spc="-20" dirty="0"/>
                        <a:t>e No.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87"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sz="1050" spc="-50" dirty="0"/>
                        <a:t>1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sz="1050" spc="-10" dirty="0"/>
                        <a:t>Background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287"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sz="1050" spc="-50" dirty="0"/>
                        <a:t>2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lang="en-US" sz="1050" dirty="0"/>
                        <a:t>Study Variables information </a:t>
                      </a:r>
                      <a:endParaRPr lang="en-US"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050" spc="-50" dirty="0"/>
                        <a:t>3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126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lang="en-US" sz="1050" dirty="0"/>
                        <a:t>Objective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287"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sz="1050" spc="-50" dirty="0"/>
                        <a:t>4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050" spc="-10" dirty="0"/>
                        <a:t>Methodology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126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2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050" spc="-50" dirty="0"/>
                        <a:t>5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1267" marB="0"/>
                </a:tc>
                <a:tc>
                  <a:txBody>
                    <a:bodyPr/>
                    <a:lstStyle/>
                    <a:p>
                      <a:pPr marL="0" marR="0" lvl="0" indent="0" algn="ctr" defTabSz="304815" rtl="0" eaLnBrk="1" fontAlgn="auto" latinLnBrk="0" hangingPunct="1">
                        <a:lnSpc>
                          <a:spcPts val="16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Descriptive Statistics</a:t>
                      </a:r>
                    </a:p>
                    <a:p>
                      <a:pPr algn="ctr">
                        <a:lnSpc>
                          <a:spcPts val="1635"/>
                        </a:lnSpc>
                      </a:pPr>
                      <a:endParaRPr lang="en-US"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6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126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lang="en-US" sz="1050" dirty="0">
                          <a:latin typeface="Times New Roman"/>
                          <a:cs typeface="Times New Roman"/>
                        </a:rPr>
                        <a:t> chi-squared test 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84211152"/>
                  </a:ext>
                </a:extLst>
              </a:tr>
              <a:tr h="376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050" spc="-50" dirty="0"/>
                        <a:t>6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126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lang="en-US" sz="1050" dirty="0">
                          <a:latin typeface="Times New Roman"/>
                          <a:cs typeface="Times New Roman"/>
                        </a:rPr>
                        <a:t>Binary Logistic Regression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126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lang="en-US" sz="1050" dirty="0">
                          <a:latin typeface="Times New Roman"/>
                          <a:cs typeface="Times New Roman"/>
                        </a:rPr>
                        <a:t>Correspondence Analysis 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03589974"/>
                  </a:ext>
                </a:extLst>
              </a:tr>
              <a:tr h="308287"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sz="1050" spc="-50" dirty="0"/>
                        <a:t>7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sz="1050" spc="-10" dirty="0"/>
                        <a:t>Conclusion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287"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sz="1050" spc="-50" dirty="0"/>
                        <a:t>8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sz="1050" spc="-10" dirty="0"/>
                        <a:t>References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6637"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sz="1050" spc="-50" dirty="0"/>
                        <a:t>9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sz="1050" spc="-10" dirty="0"/>
                        <a:t>Appendix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B9AF88-92FF-9F43-1A7A-309FB979D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768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7AAE35-AFA3-4B4D-0744-E97703186B5E}"/>
              </a:ext>
            </a:extLst>
          </p:cNvPr>
          <p:cNvSpPr txBox="1"/>
          <p:nvPr/>
        </p:nvSpPr>
        <p:spPr>
          <a:xfrm>
            <a:off x="101600" y="174678"/>
            <a:ext cx="80264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                                                      </a:t>
            </a:r>
            <a:r>
              <a:rPr lang="en-US" sz="2400" b="1" dirty="0"/>
              <a:t>Background</a:t>
            </a:r>
            <a:endParaRPr lang="en-US" sz="2000" b="1" dirty="0"/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Chronic Diseases in India: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diseases, including diabetes, hypertension, cardiovascular diseases, and respiratory illnesses, are significant public health issues in India.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conditions often stem from lifestyle choices, such as poor diet, lack of physical activity, and smoking, resulting in a substantial burden on the healthcare system and overall quality of life.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NFHS Data: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Family Health Survey (NFHS) provides valuable data on health and demographic indicators in India, including information on chronic diseases, risk factors, healthcare access, and socio-economic factors. This survey helps to understand trends in health over time, the effectiveness of health interventions, and provides insights for policymakers and researchers.</a:t>
            </a:r>
          </a:p>
          <a:p>
            <a:endParaRPr lang="en-US" sz="1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938A65-AD9F-B229-79C1-2D3A0EDD6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96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D3D0ED-6D53-72FF-2DD0-5B20122FA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0" y="152400"/>
            <a:ext cx="7992679" cy="4419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4A94AD-C728-EE3D-AE7E-418EB2CB9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85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84AF3ECF-1FE6-36FD-BB16-39EE439E2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092114"/>
              </p:ext>
            </p:extLst>
          </p:nvPr>
        </p:nvGraphicFramePr>
        <p:xfrm>
          <a:off x="1168400" y="1005549"/>
          <a:ext cx="5562598" cy="3261651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0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62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3595"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dirty="0"/>
                        <a:t>NHFS</a:t>
                      </a:r>
                      <a:r>
                        <a:rPr sz="1200" spc="-25" dirty="0"/>
                        <a:t> </a:t>
                      </a:r>
                      <a:r>
                        <a:rPr sz="1200" spc="-10" dirty="0"/>
                        <a:t>Round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spc="-10" dirty="0"/>
                        <a:t>Variables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spc="-10" dirty="0"/>
                        <a:t>Cases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spc="-20" dirty="0"/>
                        <a:t>Year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593"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spc="-10" dirty="0"/>
                        <a:t>NFHS-</a:t>
                      </a:r>
                      <a:r>
                        <a:rPr sz="1200" dirty="0"/>
                        <a:t>5 MALE</a:t>
                      </a:r>
                      <a:r>
                        <a:rPr sz="1200" spc="5" dirty="0"/>
                        <a:t> </a:t>
                      </a:r>
                      <a:r>
                        <a:rPr sz="1200" spc="-20" dirty="0"/>
                        <a:t>FILE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spc="-25" dirty="0"/>
                        <a:t>862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spc="-10" dirty="0"/>
                        <a:t>101839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spc="-10" dirty="0"/>
                        <a:t>2019-</a:t>
                      </a:r>
                      <a:r>
                        <a:rPr sz="1200" spc="-20" dirty="0"/>
                        <a:t>2021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593"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spc="-10" dirty="0"/>
                        <a:t>NFHS-</a:t>
                      </a:r>
                      <a:r>
                        <a:rPr sz="1200" dirty="0"/>
                        <a:t>5 FEMALE </a:t>
                      </a:r>
                      <a:r>
                        <a:rPr sz="1200" spc="-20" dirty="0"/>
                        <a:t>FILE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spc="-20" dirty="0"/>
                        <a:t>5972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spc="-10" dirty="0"/>
                        <a:t>724115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spc="-10" dirty="0"/>
                        <a:t>2019-</a:t>
                      </a:r>
                      <a:r>
                        <a:rPr sz="1200" spc="-20" dirty="0"/>
                        <a:t>2021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593"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spc="-10" dirty="0"/>
                        <a:t>NFHS-</a:t>
                      </a:r>
                      <a:r>
                        <a:rPr sz="1200" dirty="0"/>
                        <a:t>4 MALE</a:t>
                      </a:r>
                      <a:r>
                        <a:rPr sz="1200" spc="5" dirty="0"/>
                        <a:t> </a:t>
                      </a:r>
                      <a:r>
                        <a:rPr sz="1200" spc="-20" dirty="0"/>
                        <a:t>FILE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spc="-25" dirty="0"/>
                        <a:t>746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spc="-10" dirty="0"/>
                        <a:t>112122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spc="-10" dirty="0"/>
                        <a:t>2015-</a:t>
                      </a:r>
                      <a:r>
                        <a:rPr sz="1200" spc="-20" dirty="0"/>
                        <a:t>2016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593"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spc="-10" dirty="0"/>
                        <a:t>NFHS-</a:t>
                      </a:r>
                      <a:r>
                        <a:rPr sz="1200" dirty="0"/>
                        <a:t>4 FEMALE</a:t>
                      </a:r>
                      <a:r>
                        <a:rPr sz="1200" spc="5" dirty="0"/>
                        <a:t> </a:t>
                      </a:r>
                      <a:r>
                        <a:rPr sz="1200" spc="-20" dirty="0"/>
                        <a:t>FILE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spc="-20" dirty="0"/>
                        <a:t>4796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spc="-10" dirty="0"/>
                        <a:t>699686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2760" lvl="1" algn="l">
                        <a:lnSpc>
                          <a:spcPct val="200000"/>
                        </a:lnSpc>
                      </a:pPr>
                      <a:r>
                        <a:rPr sz="1200" spc="-10" dirty="0"/>
                        <a:t>2015-</a:t>
                      </a:r>
                      <a:r>
                        <a:rPr sz="1200" spc="-20" dirty="0"/>
                        <a:t>2016</a:t>
                      </a:r>
                      <a:endParaRPr sz="12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7E96452-A8E2-07A0-BC5C-3B4477D9BBD3}"/>
              </a:ext>
            </a:extLst>
          </p:cNvPr>
          <p:cNvSpPr txBox="1"/>
          <p:nvPr/>
        </p:nvSpPr>
        <p:spPr>
          <a:xfrm>
            <a:off x="-203200" y="304800"/>
            <a:ext cx="8102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72" algn="ctr">
              <a:spcBef>
                <a:spcPts val="45"/>
              </a:spcBef>
            </a:pPr>
            <a:r>
              <a:rPr lang="en-US" sz="1800" b="1" spc="-5" dirty="0">
                <a:latin typeface="Carlito"/>
                <a:cs typeface="Carlito"/>
              </a:rPr>
              <a:t>Variables</a:t>
            </a:r>
            <a:r>
              <a:rPr lang="en-US" sz="1800" b="1" spc="-11" dirty="0">
                <a:latin typeface="Carlito"/>
                <a:cs typeface="Carlito"/>
              </a:rPr>
              <a:t> </a:t>
            </a:r>
            <a:r>
              <a:rPr lang="en-US" sz="1800" b="1" dirty="0">
                <a:latin typeface="Carlito"/>
                <a:cs typeface="Carlito"/>
              </a:rPr>
              <a:t>and</a:t>
            </a:r>
            <a:r>
              <a:rPr lang="en-US" sz="1800" b="1" spc="-7" dirty="0">
                <a:latin typeface="Carlito"/>
                <a:cs typeface="Carlito"/>
              </a:rPr>
              <a:t> </a:t>
            </a:r>
            <a:r>
              <a:rPr lang="en-US" sz="1800" b="1" spc="-11" dirty="0">
                <a:latin typeface="Carlito"/>
                <a:cs typeface="Carlito"/>
              </a:rPr>
              <a:t>Total</a:t>
            </a:r>
            <a:r>
              <a:rPr lang="en-US" sz="1800" b="1" spc="-9" dirty="0">
                <a:latin typeface="Carlito"/>
                <a:cs typeface="Carlito"/>
              </a:rPr>
              <a:t> </a:t>
            </a:r>
            <a:r>
              <a:rPr lang="en-US" sz="1800" b="1" dirty="0">
                <a:latin typeface="Carlito"/>
                <a:cs typeface="Carlito"/>
              </a:rPr>
              <a:t>Cases</a:t>
            </a:r>
            <a:r>
              <a:rPr lang="en-US" sz="1800" b="1" spc="-9" dirty="0">
                <a:latin typeface="Carlito"/>
                <a:cs typeface="Carlito"/>
              </a:rPr>
              <a:t> </a:t>
            </a:r>
            <a:r>
              <a:rPr lang="en-US" sz="1800" b="1" dirty="0">
                <a:latin typeface="Carlito"/>
                <a:cs typeface="Carlito"/>
              </a:rPr>
              <a:t>in</a:t>
            </a:r>
            <a:r>
              <a:rPr lang="en-US" sz="1800" b="1" spc="-11" dirty="0">
                <a:latin typeface="Carlito"/>
                <a:cs typeface="Carlito"/>
              </a:rPr>
              <a:t> </a:t>
            </a:r>
            <a:r>
              <a:rPr lang="en-US" sz="1800" b="1" spc="-9" dirty="0">
                <a:latin typeface="Carlito"/>
                <a:cs typeface="Carlito"/>
              </a:rPr>
              <a:t>NFHS</a:t>
            </a:r>
            <a:endParaRPr lang="en-US" sz="1800" dirty="0">
              <a:latin typeface="Carlito"/>
              <a:cs typeface="Carlito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1284DF-3E2B-AEBF-3BD9-99C4C1E0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674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BDFD6494-25E4-36C0-BF04-E6331AB05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009823"/>
              </p:ext>
            </p:extLst>
          </p:nvPr>
        </p:nvGraphicFramePr>
        <p:xfrm>
          <a:off x="939800" y="400193"/>
          <a:ext cx="6629401" cy="3943209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954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3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05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381"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dirty="0"/>
                        <a:t>Sr</a:t>
                      </a:r>
                      <a:r>
                        <a:rPr sz="900" spc="-5" dirty="0"/>
                        <a:t> </a:t>
                      </a:r>
                      <a:r>
                        <a:rPr sz="900" spc="-35" dirty="0"/>
                        <a:t>no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spc="-10" dirty="0"/>
                        <a:t>Variable</a:t>
                      </a:r>
                      <a:r>
                        <a:rPr sz="900" dirty="0"/>
                        <a:t> </a:t>
                      </a:r>
                      <a:r>
                        <a:rPr sz="900" spc="-20" dirty="0"/>
                        <a:t>Name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spc="-10" dirty="0"/>
                        <a:t>Values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spc="-20" dirty="0"/>
                        <a:t>Type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224"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spc="-50" dirty="0"/>
                        <a:t>1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dirty="0"/>
                        <a:t>Current</a:t>
                      </a:r>
                      <a:r>
                        <a:rPr sz="900" spc="-40" dirty="0"/>
                        <a:t> </a:t>
                      </a:r>
                      <a:r>
                        <a:rPr sz="900" dirty="0"/>
                        <a:t>Age</a:t>
                      </a:r>
                      <a:r>
                        <a:rPr sz="900" spc="-45" dirty="0"/>
                        <a:t> </a:t>
                      </a:r>
                      <a:r>
                        <a:rPr sz="900" spc="-50" dirty="0"/>
                        <a:t>/</a:t>
                      </a:r>
                      <a:r>
                        <a:rPr lang="en-US" sz="900" spc="-50" dirty="0"/>
                        <a:t> </a:t>
                      </a:r>
                      <a:r>
                        <a:rPr sz="900" dirty="0"/>
                        <a:t>Age</a:t>
                      </a:r>
                      <a:r>
                        <a:rPr sz="900" spc="-10" dirty="0"/>
                        <a:t> </a:t>
                      </a:r>
                      <a:r>
                        <a:rPr sz="900" dirty="0"/>
                        <a:t>in</a:t>
                      </a:r>
                      <a:r>
                        <a:rPr sz="900" spc="-25" dirty="0"/>
                        <a:t> </a:t>
                      </a:r>
                      <a:r>
                        <a:rPr sz="900" dirty="0"/>
                        <a:t>5</a:t>
                      </a:r>
                      <a:r>
                        <a:rPr sz="900" spc="-5" dirty="0"/>
                        <a:t> </a:t>
                      </a:r>
                      <a:r>
                        <a:rPr sz="900" spc="-10" dirty="0"/>
                        <a:t>Group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lang="en-US" sz="900" dirty="0"/>
                        <a:t>15-19 , 20-24 ………45-49 , 50-54</a:t>
                      </a:r>
                      <a:endParaRPr lang="en-US"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dirty="0"/>
                        <a:t>Numerical</a:t>
                      </a:r>
                      <a:r>
                        <a:rPr lang="en-US" sz="900" dirty="0"/>
                        <a:t> </a:t>
                      </a:r>
                      <a:r>
                        <a:rPr lang="en-US" sz="900" spc="-35" dirty="0"/>
                        <a:t>/ </a:t>
                      </a:r>
                      <a:r>
                        <a:rPr sz="900" spc="-10" dirty="0"/>
                        <a:t>Categorical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81"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spc="-50" dirty="0"/>
                        <a:t>2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spc="-10" dirty="0"/>
                        <a:t>Diabetes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dirty="0"/>
                        <a:t>0=No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,</a:t>
                      </a:r>
                      <a:r>
                        <a:rPr sz="900" spc="-15" dirty="0"/>
                        <a:t> </a:t>
                      </a:r>
                      <a:r>
                        <a:rPr sz="900" spc="-20" dirty="0"/>
                        <a:t>1=Yes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,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8=Don’t</a:t>
                      </a:r>
                      <a:r>
                        <a:rPr sz="900" spc="-15" dirty="0"/>
                        <a:t> </a:t>
                      </a:r>
                      <a:r>
                        <a:rPr sz="900" spc="-20" dirty="0"/>
                        <a:t>know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spc="-10" dirty="0"/>
                        <a:t>Categorical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81"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spc="-50" dirty="0"/>
                        <a:t>3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spc="-10" dirty="0"/>
                        <a:t>Hypertension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dirty="0"/>
                        <a:t>0=No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,</a:t>
                      </a:r>
                      <a:r>
                        <a:rPr sz="900" spc="-15" dirty="0"/>
                        <a:t> </a:t>
                      </a:r>
                      <a:r>
                        <a:rPr sz="900" spc="-20" dirty="0"/>
                        <a:t>1=Yes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,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8=Don’t</a:t>
                      </a:r>
                      <a:r>
                        <a:rPr sz="900" spc="-15" dirty="0"/>
                        <a:t> </a:t>
                      </a:r>
                      <a:r>
                        <a:rPr sz="900" spc="-20" dirty="0"/>
                        <a:t>know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spc="-10" dirty="0"/>
                        <a:t>Categorical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81"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spc="-50" dirty="0"/>
                        <a:t>4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dirty="0"/>
                        <a:t>Kidney</a:t>
                      </a:r>
                      <a:r>
                        <a:rPr sz="900" spc="-45" dirty="0"/>
                        <a:t> </a:t>
                      </a:r>
                      <a:r>
                        <a:rPr sz="900" spc="-10" dirty="0"/>
                        <a:t>disease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dirty="0"/>
                        <a:t>0=No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,</a:t>
                      </a:r>
                      <a:r>
                        <a:rPr sz="900" spc="-15" dirty="0"/>
                        <a:t> </a:t>
                      </a:r>
                      <a:r>
                        <a:rPr sz="900" spc="-20" dirty="0"/>
                        <a:t>1=Yes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,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8=Don’t</a:t>
                      </a:r>
                      <a:r>
                        <a:rPr sz="900" spc="-15" dirty="0"/>
                        <a:t> </a:t>
                      </a:r>
                      <a:r>
                        <a:rPr sz="900" spc="-20" dirty="0"/>
                        <a:t>know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spc="-10" dirty="0"/>
                        <a:t>Categorical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81"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spc="-50" dirty="0"/>
                        <a:t>5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dirty="0"/>
                        <a:t>Heart</a:t>
                      </a:r>
                      <a:r>
                        <a:rPr sz="900" spc="-5" dirty="0"/>
                        <a:t> </a:t>
                      </a:r>
                      <a:r>
                        <a:rPr sz="900" spc="-10" dirty="0"/>
                        <a:t>disease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dirty="0"/>
                        <a:t>0=No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,</a:t>
                      </a:r>
                      <a:r>
                        <a:rPr sz="900" spc="-15" dirty="0"/>
                        <a:t> </a:t>
                      </a:r>
                      <a:r>
                        <a:rPr sz="900" spc="-20" dirty="0"/>
                        <a:t>1=Yes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,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8=Don’t</a:t>
                      </a:r>
                      <a:r>
                        <a:rPr sz="900" spc="-15" dirty="0"/>
                        <a:t> </a:t>
                      </a:r>
                      <a:r>
                        <a:rPr sz="900" spc="-20" dirty="0"/>
                        <a:t>know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spc="-10" dirty="0"/>
                        <a:t>Categorical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381"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spc="-50" dirty="0"/>
                        <a:t>6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lang="en-US" sz="900" dirty="0"/>
                        <a:t>Respitory</a:t>
                      </a:r>
                      <a:r>
                        <a:rPr sz="900" spc="-30" dirty="0"/>
                        <a:t> </a:t>
                      </a:r>
                      <a:r>
                        <a:rPr sz="900" spc="-10" dirty="0"/>
                        <a:t>diseases</a:t>
                      </a:r>
                      <a:r>
                        <a:rPr lang="en-US" sz="900" spc="-10" dirty="0"/>
                        <a:t> </a:t>
                      </a:r>
                      <a:r>
                        <a:rPr sz="900" dirty="0"/>
                        <a:t>including</a:t>
                      </a:r>
                      <a:r>
                        <a:rPr sz="900" spc="-35" dirty="0"/>
                        <a:t> </a:t>
                      </a:r>
                      <a:r>
                        <a:rPr sz="900" spc="-10" dirty="0"/>
                        <a:t>Asthma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dirty="0"/>
                        <a:t>0=No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,</a:t>
                      </a:r>
                      <a:r>
                        <a:rPr sz="900" spc="-15" dirty="0"/>
                        <a:t> </a:t>
                      </a:r>
                      <a:r>
                        <a:rPr sz="900" spc="-20" dirty="0"/>
                        <a:t>1=Yes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,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8=Don’t</a:t>
                      </a:r>
                      <a:r>
                        <a:rPr sz="900" spc="-15" dirty="0"/>
                        <a:t> </a:t>
                      </a:r>
                      <a:r>
                        <a:rPr sz="900" spc="-20" dirty="0"/>
                        <a:t>know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spc="-10" dirty="0"/>
                        <a:t>Categorical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381"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spc="-50" dirty="0"/>
                        <a:t>7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marR="346710" algn="ctr">
                        <a:lnSpc>
                          <a:spcPct val="200000"/>
                        </a:lnSpc>
                      </a:pPr>
                      <a:r>
                        <a:rPr sz="900" dirty="0"/>
                        <a:t>Goitre</a:t>
                      </a:r>
                      <a:r>
                        <a:rPr sz="900" spc="-35" dirty="0"/>
                        <a:t> </a:t>
                      </a:r>
                      <a:r>
                        <a:rPr sz="900" dirty="0"/>
                        <a:t>or</a:t>
                      </a:r>
                      <a:r>
                        <a:rPr sz="900" spc="-25" dirty="0"/>
                        <a:t> </a:t>
                      </a:r>
                      <a:r>
                        <a:rPr sz="900" dirty="0"/>
                        <a:t>any</a:t>
                      </a:r>
                      <a:r>
                        <a:rPr sz="900" spc="-30" dirty="0"/>
                        <a:t> </a:t>
                      </a:r>
                      <a:r>
                        <a:rPr sz="900" spc="-20" dirty="0"/>
                        <a:t>other </a:t>
                      </a:r>
                      <a:r>
                        <a:rPr sz="900" dirty="0"/>
                        <a:t>thyroid</a:t>
                      </a:r>
                      <a:r>
                        <a:rPr sz="900" spc="-55" dirty="0"/>
                        <a:t> </a:t>
                      </a:r>
                      <a:r>
                        <a:rPr sz="900" spc="-10" dirty="0"/>
                        <a:t>disorder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dirty="0"/>
                        <a:t>0=No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,</a:t>
                      </a:r>
                      <a:r>
                        <a:rPr sz="900" spc="-10" dirty="0"/>
                        <a:t> </a:t>
                      </a:r>
                      <a:r>
                        <a:rPr sz="900" spc="-20" dirty="0"/>
                        <a:t>1=Yes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,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8=Don’t</a:t>
                      </a:r>
                      <a:r>
                        <a:rPr sz="900" spc="-15" dirty="0"/>
                        <a:t> </a:t>
                      </a:r>
                      <a:r>
                        <a:rPr sz="900" spc="-20" dirty="0"/>
                        <a:t>know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spc="-10" dirty="0"/>
                        <a:t>Categorical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381"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spc="-50" dirty="0"/>
                        <a:t>8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lang="en-US" sz="900" spc="-10" dirty="0"/>
                        <a:t>C</a:t>
                      </a:r>
                      <a:r>
                        <a:rPr sz="900" spc="-10" dirty="0"/>
                        <a:t>ancer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dirty="0"/>
                        <a:t>0=No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,</a:t>
                      </a:r>
                      <a:r>
                        <a:rPr sz="900" spc="-15" dirty="0"/>
                        <a:t> </a:t>
                      </a:r>
                      <a:r>
                        <a:rPr sz="900" spc="-20" dirty="0"/>
                        <a:t>1=Yes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,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8=Don’t</a:t>
                      </a:r>
                      <a:r>
                        <a:rPr sz="900" spc="-15" dirty="0"/>
                        <a:t> </a:t>
                      </a:r>
                      <a:r>
                        <a:rPr sz="900" spc="-20" dirty="0"/>
                        <a:t>know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spc="-10" dirty="0"/>
                        <a:t>Categorical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381"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spc="-50" dirty="0"/>
                        <a:t>9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spc="-10" dirty="0"/>
                        <a:t>Type</a:t>
                      </a:r>
                      <a:r>
                        <a:rPr sz="900" spc="-20" dirty="0"/>
                        <a:t> </a:t>
                      </a:r>
                      <a:r>
                        <a:rPr sz="900" dirty="0"/>
                        <a:t>of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place</a:t>
                      </a:r>
                      <a:r>
                        <a:rPr sz="900" spc="-15" dirty="0"/>
                        <a:t> </a:t>
                      </a:r>
                      <a:r>
                        <a:rPr sz="900" spc="-25" dirty="0"/>
                        <a:t>of</a:t>
                      </a:r>
                      <a:r>
                        <a:rPr lang="en-US" sz="900" spc="-25" dirty="0"/>
                        <a:t> </a:t>
                      </a:r>
                      <a:r>
                        <a:rPr sz="900" spc="-10" dirty="0"/>
                        <a:t>residence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dirty="0"/>
                        <a:t>0=Rural</a:t>
                      </a:r>
                      <a:r>
                        <a:rPr sz="900" spc="210" dirty="0"/>
                        <a:t> </a:t>
                      </a:r>
                      <a:r>
                        <a:rPr sz="900" dirty="0"/>
                        <a:t>,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1=</a:t>
                      </a:r>
                      <a:r>
                        <a:rPr sz="900" spc="-15" dirty="0"/>
                        <a:t> </a:t>
                      </a:r>
                      <a:r>
                        <a:rPr sz="900" spc="-20" dirty="0"/>
                        <a:t>Urban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spc="-10" dirty="0"/>
                        <a:t>Categorical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381"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spc="-25" dirty="0"/>
                        <a:t>10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dirty="0"/>
                        <a:t>Blood</a:t>
                      </a:r>
                      <a:r>
                        <a:rPr sz="900" spc="-15" dirty="0"/>
                        <a:t> </a:t>
                      </a:r>
                      <a:r>
                        <a:rPr sz="900" spc="-10" dirty="0"/>
                        <a:t>transfusion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dirty="0"/>
                        <a:t>0=No</a:t>
                      </a:r>
                      <a:r>
                        <a:rPr sz="900" spc="-20" dirty="0"/>
                        <a:t> </a:t>
                      </a:r>
                      <a:r>
                        <a:rPr sz="900" dirty="0"/>
                        <a:t>,</a:t>
                      </a:r>
                      <a:r>
                        <a:rPr sz="900" spc="-20" dirty="0"/>
                        <a:t> </a:t>
                      </a:r>
                      <a:r>
                        <a:rPr sz="900" spc="-10" dirty="0"/>
                        <a:t>1=Yes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spc="-10" dirty="0"/>
                        <a:t>Categorical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84794"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spc="-25" dirty="0"/>
                        <a:t>11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dirty="0"/>
                        <a:t>Smokes</a:t>
                      </a:r>
                      <a:r>
                        <a:rPr sz="900" spc="-50" dirty="0"/>
                        <a:t> </a:t>
                      </a:r>
                      <a:r>
                        <a:rPr lang="en-US" sz="900" spc="-10" dirty="0"/>
                        <a:t>Smoking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dirty="0"/>
                        <a:t>0=Not</a:t>
                      </a:r>
                      <a:r>
                        <a:rPr sz="900" spc="-5" dirty="0"/>
                        <a:t> </a:t>
                      </a:r>
                      <a:r>
                        <a:rPr sz="900" dirty="0"/>
                        <a:t>at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all</a:t>
                      </a:r>
                      <a:r>
                        <a:rPr sz="900" spc="-10" dirty="0"/>
                        <a:t> </a:t>
                      </a:r>
                      <a:r>
                        <a:rPr sz="900" dirty="0"/>
                        <a:t>,</a:t>
                      </a:r>
                      <a:r>
                        <a:rPr sz="900" spc="-15" dirty="0"/>
                        <a:t> </a:t>
                      </a:r>
                      <a:r>
                        <a:rPr sz="900" spc="-10" dirty="0"/>
                        <a:t>1=Every</a:t>
                      </a:r>
                      <a:r>
                        <a:rPr sz="900" spc="-15" dirty="0"/>
                        <a:t> </a:t>
                      </a:r>
                      <a:r>
                        <a:rPr sz="900" spc="-20" dirty="0"/>
                        <a:t>Day,</a:t>
                      </a:r>
                      <a:endParaRPr sz="900" dirty="0"/>
                    </a:p>
                    <a:p>
                      <a:pPr marL="67945" algn="ctr">
                        <a:lnSpc>
                          <a:spcPct val="200000"/>
                        </a:lnSpc>
                        <a:spcBef>
                          <a:spcPts val="25"/>
                        </a:spcBef>
                      </a:pPr>
                      <a:r>
                        <a:rPr sz="900" dirty="0"/>
                        <a:t>2=</a:t>
                      </a:r>
                      <a:r>
                        <a:rPr sz="900" spc="-15" dirty="0"/>
                        <a:t> </a:t>
                      </a:r>
                      <a:r>
                        <a:rPr sz="900" dirty="0"/>
                        <a:t>Some</a:t>
                      </a:r>
                      <a:r>
                        <a:rPr sz="900" spc="-25" dirty="0"/>
                        <a:t> Day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spc="-10" dirty="0"/>
                        <a:t>Categorical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381"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spc="-25" dirty="0"/>
                        <a:t>12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lang="en-US" sz="900" dirty="0"/>
                        <a:t>D</a:t>
                      </a:r>
                      <a:r>
                        <a:rPr sz="900" dirty="0"/>
                        <a:t>rink</a:t>
                      </a:r>
                      <a:r>
                        <a:rPr sz="900" spc="-35" dirty="0"/>
                        <a:t> </a:t>
                      </a:r>
                      <a:r>
                        <a:rPr lang="en-US" sz="900" spc="-10" dirty="0"/>
                        <a:t>A</a:t>
                      </a:r>
                      <a:r>
                        <a:rPr sz="900" spc="-10" dirty="0"/>
                        <a:t>lcohol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200000"/>
                        </a:lnSpc>
                      </a:pPr>
                      <a:r>
                        <a:rPr sz="900" dirty="0"/>
                        <a:t>0=No</a:t>
                      </a:r>
                      <a:r>
                        <a:rPr sz="900" spc="-20" dirty="0"/>
                        <a:t> </a:t>
                      </a:r>
                      <a:r>
                        <a:rPr sz="900" dirty="0"/>
                        <a:t>,</a:t>
                      </a:r>
                      <a:r>
                        <a:rPr sz="900" spc="-20" dirty="0"/>
                        <a:t> </a:t>
                      </a:r>
                      <a:r>
                        <a:rPr sz="900" spc="-10" dirty="0"/>
                        <a:t>1=Yes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200000"/>
                        </a:lnSpc>
                      </a:pPr>
                      <a:r>
                        <a:rPr sz="900" spc="-10" dirty="0"/>
                        <a:t>Categorical</a:t>
                      </a:r>
                      <a:endParaRPr sz="900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0B5E492-11B8-3A55-10EE-C6810A5D2031}"/>
              </a:ext>
            </a:extLst>
          </p:cNvPr>
          <p:cNvSpPr txBox="1"/>
          <p:nvPr/>
        </p:nvSpPr>
        <p:spPr>
          <a:xfrm>
            <a:off x="0" y="43932"/>
            <a:ext cx="812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72" algn="ctr">
              <a:spcBef>
                <a:spcPts val="45"/>
              </a:spcBef>
            </a:pPr>
            <a:r>
              <a:rPr lang="en-US" b="1" spc="-5" dirty="0">
                <a:latin typeface="Carlito"/>
                <a:cs typeface="Carlito"/>
              </a:rPr>
              <a:t>STUDY</a:t>
            </a:r>
            <a:r>
              <a:rPr lang="en-US" b="1" spc="-20" dirty="0">
                <a:latin typeface="Carlito"/>
                <a:cs typeface="Carlito"/>
              </a:rPr>
              <a:t> </a:t>
            </a:r>
            <a:r>
              <a:rPr lang="en-US" b="1" spc="-5" dirty="0">
                <a:latin typeface="Carlito"/>
                <a:cs typeface="Carlito"/>
              </a:rPr>
              <a:t>VARIABLES</a:t>
            </a:r>
            <a:endParaRPr lang="en-US" dirty="0">
              <a:latin typeface="Carlito"/>
              <a:cs typeface="Carlito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12EF4C-7625-5B0C-68DA-3CD1719A3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311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8D2BA-75A1-5730-ABE1-3DE5CBB36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A79580-024C-B461-BEB0-CED7A3F6A066}"/>
              </a:ext>
            </a:extLst>
          </p:cNvPr>
          <p:cNvSpPr txBox="1"/>
          <p:nvPr/>
        </p:nvSpPr>
        <p:spPr>
          <a:xfrm>
            <a:off x="0" y="517025"/>
            <a:ext cx="8128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distributions and histograms to understand the spread of variables such as diabetes, hypertension, etc.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Chi-Square Test: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for associations between categorical variables ( prevalence of a specific chronic disease, or rural vs urban populations).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the likelihood of having a chronic disease (e.g., diabetes or hypertension) based on predictor variables (e.g., age, lifestyle factors).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 startAt="4"/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Correspondence Analysis: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long-term patterns and shifts in chronic disease prevalence over time, helping to predict future health trends and policy implications.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E7B84D-9853-9F8B-E3CB-B465C6A0FAA5}"/>
              </a:ext>
            </a:extLst>
          </p:cNvPr>
          <p:cNvSpPr txBox="1"/>
          <p:nvPr/>
        </p:nvSpPr>
        <p:spPr>
          <a:xfrm>
            <a:off x="2997200" y="72597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17C3BC-0789-E540-B334-0F63C6347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323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6D748-1D15-E5A2-5C4F-73040864411B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1778000" y="76200"/>
            <a:ext cx="4369531" cy="493607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1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escriptive Statistics 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40347-9B11-DD98-574A-56E5E2D78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2D6B0F3-963C-5F4D-B2DF-270CE0D4EAA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19D03-ADC1-A120-A09E-8A24D2D62AAC}"/>
              </a:ext>
            </a:extLst>
          </p:cNvPr>
          <p:cNvSpPr txBox="1"/>
          <p:nvPr/>
        </p:nvSpPr>
        <p:spPr>
          <a:xfrm>
            <a:off x="50800" y="751304"/>
            <a:ext cx="406546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i="0" dirty="0">
                <a:effectLst/>
                <a:latin typeface="Arial" panose="020B0604020202020204" pitchFamily="34" charset="0"/>
              </a:rPr>
              <a:t>Frequency distribution table:</a:t>
            </a:r>
            <a:endParaRPr lang="en-US" b="1" i="0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E2C104-6CBE-2527-66E8-E7E246CE6F40}"/>
              </a:ext>
            </a:extLst>
          </p:cNvPr>
          <p:cNvSpPr txBox="1"/>
          <p:nvPr/>
        </p:nvSpPr>
        <p:spPr>
          <a:xfrm>
            <a:off x="35816" y="1360077"/>
            <a:ext cx="81279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Arial" panose="020B0604020202020204" pitchFamily="34" charset="0"/>
              </a:rPr>
              <a:t>A </a:t>
            </a:r>
            <a:r>
              <a:rPr lang="en-US" sz="1200" b="0" i="0" u="none" strike="noStrike" dirty="0">
                <a:effectLst/>
                <a:latin typeface="Arial" panose="020B0604020202020204" pitchFamily="34" charset="0"/>
                <a:hlinkClick r:id="rId2" tooltip="Frequency distribu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frequency distribution</a:t>
            </a:r>
            <a:r>
              <a:rPr lang="en-US" sz="1200" b="0" i="0" dirty="0">
                <a:effectLst/>
                <a:latin typeface="Arial" panose="020B0604020202020204" pitchFamily="34" charset="0"/>
              </a:rPr>
              <a:t> table is an arrangement of the values that one or more variables take in a </a:t>
            </a:r>
            <a:r>
              <a:rPr lang="en-US" sz="1200" b="0" i="0" u="none" strike="noStrike" dirty="0">
                <a:effectLst/>
                <a:latin typeface="Arial" panose="020B0604020202020204" pitchFamily="34" charset="0"/>
                <a:hlinkClick r:id="rId3" tooltip="Sampling (statistics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sample</a:t>
            </a:r>
            <a:r>
              <a:rPr lang="en-US" sz="1200" b="0" i="0" dirty="0">
                <a:effectLst/>
                <a:latin typeface="Arial" panose="020B0604020202020204" pitchFamily="34" charset="0"/>
              </a:rPr>
              <a:t>.</a:t>
            </a:r>
          </a:p>
          <a:p>
            <a:endParaRPr lang="en-US" sz="1200" b="0" i="0" dirty="0"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Arial" panose="020B0604020202020204" pitchFamily="34" charset="0"/>
              </a:rPr>
              <a:t> Each entry in the table contains the frequency or count of the occurrences of values within a particular group or interval, and in this way, the table summarizes the </a:t>
            </a:r>
            <a:r>
              <a:rPr lang="en-US" sz="1200" b="0" i="0" u="none" strike="noStrike" dirty="0">
                <a:effectLst/>
                <a:latin typeface="Arial" panose="020B0604020202020204" pitchFamily="34" charset="0"/>
                <a:hlinkClick r:id="rId4" tooltip="Statistical distribu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distribution</a:t>
            </a:r>
            <a:r>
              <a:rPr lang="en-US" sz="1200" b="0" i="0" dirty="0">
                <a:effectLst/>
                <a:latin typeface="Arial" panose="020B0604020202020204" pitchFamily="34" charset="0"/>
              </a:rPr>
              <a:t> of values in the sample.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B6F5F8-4620-A9A6-72EC-986989872927}"/>
              </a:ext>
            </a:extLst>
          </p:cNvPr>
          <p:cNvSpPr txBox="1"/>
          <p:nvPr/>
        </p:nvSpPr>
        <p:spPr>
          <a:xfrm>
            <a:off x="110006" y="2580462"/>
            <a:ext cx="4072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i="0" dirty="0">
                <a:effectLst/>
                <a:latin typeface="Arial" panose="020B0604020202020204" pitchFamily="34" charset="0"/>
              </a:rPr>
              <a:t>Bar graphs</a:t>
            </a:r>
            <a:endParaRPr 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8B3A77-C6F2-7508-7DAC-8D440C9AA61B}"/>
              </a:ext>
            </a:extLst>
          </p:cNvPr>
          <p:cNvSpPr txBox="1"/>
          <p:nvPr/>
        </p:nvSpPr>
        <p:spPr>
          <a:xfrm>
            <a:off x="50800" y="3200400"/>
            <a:ext cx="8026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Arial" panose="020B0604020202020204" pitchFamily="34" charset="0"/>
              </a:rPr>
              <a:t>A </a:t>
            </a:r>
            <a:r>
              <a:rPr lang="en-US" sz="1200" b="1" i="0" dirty="0">
                <a:effectLst/>
                <a:latin typeface="Arial" panose="020B0604020202020204" pitchFamily="34" charset="0"/>
              </a:rPr>
              <a:t>bar chart</a:t>
            </a:r>
            <a:r>
              <a:rPr lang="en-US" sz="1200" b="0" i="0" dirty="0">
                <a:effectLst/>
                <a:latin typeface="Arial" panose="020B0604020202020204" pitchFamily="34" charset="0"/>
              </a:rPr>
              <a:t> or </a:t>
            </a:r>
            <a:r>
              <a:rPr lang="en-US" sz="1200" b="1" i="0" dirty="0">
                <a:effectLst/>
                <a:latin typeface="Arial" panose="020B0604020202020204" pitchFamily="34" charset="0"/>
              </a:rPr>
              <a:t>bar graph</a:t>
            </a:r>
            <a:r>
              <a:rPr lang="en-US" sz="1200" b="0" i="0" dirty="0">
                <a:effectLst/>
                <a:latin typeface="Arial" panose="020B0604020202020204" pitchFamily="34" charset="0"/>
              </a:rPr>
              <a:t> is a </a:t>
            </a:r>
            <a:r>
              <a:rPr lang="en-US" sz="1200" b="0" i="0" u="none" strike="noStrike" dirty="0">
                <a:effectLst/>
                <a:latin typeface="Arial" panose="020B0604020202020204" pitchFamily="34" charset="0"/>
                <a:hlinkClick r:id="rId5" tooltip="Cha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chart</a:t>
            </a:r>
            <a:r>
              <a:rPr lang="en-US" sz="1200" b="0" i="0" dirty="0">
                <a:effectLst/>
                <a:latin typeface="Arial" panose="020B0604020202020204" pitchFamily="34" charset="0"/>
              </a:rPr>
              <a:t> with </a:t>
            </a:r>
            <a:r>
              <a:rPr lang="en-US" sz="1200" b="0" i="0" u="none" strike="noStrike" dirty="0">
                <a:effectLst/>
                <a:latin typeface="Arial" panose="020B0604020202020204" pitchFamily="34" charset="0"/>
                <a:hlinkClick r:id="rId6" tooltip="Rectang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rectangular</a:t>
            </a:r>
            <a:r>
              <a:rPr lang="en-US" sz="1200" b="0" i="0" dirty="0">
                <a:effectLst/>
                <a:latin typeface="Arial" panose="020B0604020202020204" pitchFamily="34" charset="0"/>
              </a:rPr>
              <a:t> bars with </a:t>
            </a:r>
            <a:r>
              <a:rPr lang="en-US" sz="1200" b="0" i="0" u="none" strike="noStrike" dirty="0">
                <a:effectLst/>
                <a:latin typeface="Arial" panose="020B0604020202020204" pitchFamily="34" charset="0"/>
                <a:hlinkClick r:id="rId7" tooltip="Lengt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lengths</a:t>
            </a:r>
            <a:r>
              <a:rPr lang="en-US" sz="1200" b="0" i="0" dirty="0">
                <a:effectLst/>
                <a:latin typeface="Arial" panose="020B0604020202020204" pitchFamily="34" charset="0"/>
              </a:rPr>
              <a:t> proportional to the values that they represent.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Arial" panose="020B0604020202020204" pitchFamily="34" charset="0"/>
              </a:rPr>
              <a:t>The bars can be plotted vertically or horizontally. A vertical bar chart is sometimes called a column bar chart.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91703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"/>
          </p:nvPr>
        </p:nvSpPr>
        <p:spPr>
          <a:xfrm>
            <a:off x="2693072" y="-150916"/>
            <a:ext cx="2925676" cy="445665"/>
          </a:xfrm>
        </p:spPr>
        <p:txBody>
          <a:bodyPr>
            <a:normAutofit/>
          </a:bodyPr>
          <a:lstStyle/>
          <a:p>
            <a:pPr algn="ctr"/>
            <a:r>
              <a:rPr lang="en-US" sz="998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Frequency Table for Diabetes</a:t>
            </a:r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ph type="tbl" idx="2"/>
            <p:extLst>
              <p:ext uri="{D42A27DB-BD31-4B8C-83A1-F6EECF244321}">
                <p14:modId xmlns:p14="http://schemas.microsoft.com/office/powerpoint/2010/main" val="2039603762"/>
              </p:ext>
            </p:extLst>
          </p:nvPr>
        </p:nvGraphicFramePr>
        <p:xfrm>
          <a:off x="2852995" y="294749"/>
          <a:ext cx="2485652" cy="85242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802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753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Diabetes</a:t>
                      </a:r>
                      <a:endParaRPr lang="en-US" sz="7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COUNT</a:t>
                      </a:r>
                      <a:endParaRPr lang="en-US" sz="7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PERCENT</a:t>
                      </a:r>
                      <a:endParaRPr lang="en-US" sz="7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No</a:t>
                      </a:r>
                      <a:endParaRPr lang="en-US" sz="7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98034</a:t>
                      </a:r>
                      <a:endParaRPr lang="en-US" sz="7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97.8344</a:t>
                      </a:r>
                      <a:endParaRPr lang="en-US" sz="7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Yes</a:t>
                      </a:r>
                      <a:endParaRPr lang="en-US" sz="7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2170</a:t>
                      </a:r>
                      <a:endParaRPr lang="en-US" sz="7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2.1656</a:t>
                      </a:r>
                      <a:endParaRPr lang="en-US" sz="7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02D6B0F3-963C-5F4D-B2DF-270CE0D4EAAA}" type="slidenum">
              <a:rPr lang="en-US" dirty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7" name="SGPlot38.png" descr="The SGPlot Procedure" title="The SGPlot Procedure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466183" y="1199555"/>
            <a:ext cx="3379449" cy="25345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6E4A21-810E-48F4-5D64-492E3811E874}"/>
              </a:ext>
            </a:extLst>
          </p:cNvPr>
          <p:cNvSpPr txBox="1"/>
          <p:nvPr/>
        </p:nvSpPr>
        <p:spPr>
          <a:xfrm>
            <a:off x="1854200" y="3966875"/>
            <a:ext cx="4826359" cy="560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2.17%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individuals have diabetes, while </a:t>
            </a: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97.83%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do not.</a:t>
            </a:r>
          </a:p>
          <a:p>
            <a:endParaRPr lang="en-US" sz="998" dirty="0"/>
          </a:p>
        </p:txBody>
      </p:sp>
    </p:spTree>
    <p:extLst>
      <p:ext uri="{BB962C8B-B14F-4D97-AF65-F5344CB8AC3E}">
        <p14:creationId xmlns:p14="http://schemas.microsoft.com/office/powerpoint/2010/main" val="2375555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idx="1"/>
          </p:nvPr>
        </p:nvSpPr>
        <p:spPr>
          <a:xfrm>
            <a:off x="2904424" y="27410"/>
            <a:ext cx="2319147" cy="216666"/>
          </a:xfrm>
        </p:spPr>
        <p:txBody>
          <a:bodyPr>
            <a:noAutofit/>
          </a:bodyPr>
          <a:lstStyle/>
          <a:p>
            <a:pPr algn="ctr"/>
            <a:r>
              <a:rPr lang="en-US" sz="1109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Frequency Table for Hypertension</a:t>
            </a:r>
          </a:p>
        </p:txBody>
      </p:sp>
      <p:graphicFrame>
        <p:nvGraphicFramePr>
          <p:cNvPr id="12" name="Table 2"/>
          <p:cNvGraphicFramePr>
            <a:graphicFrameLocks noGrp="1"/>
          </p:cNvGraphicFramePr>
          <p:nvPr>
            <p:ph type="tbl" idx="2"/>
            <p:extLst>
              <p:ext uri="{D42A27DB-BD31-4B8C-83A1-F6EECF244321}">
                <p14:modId xmlns:p14="http://schemas.microsoft.com/office/powerpoint/2010/main" val="2306090017"/>
              </p:ext>
            </p:extLst>
          </p:nvPr>
        </p:nvGraphicFramePr>
        <p:xfrm>
          <a:off x="2906253" y="352733"/>
          <a:ext cx="2605547" cy="85242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049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753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Hypertension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COUNT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PERCENT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No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97268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97.0700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Yes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2936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2.9300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02D6B0F3-963C-5F4D-B2DF-270CE0D4EAAA}" type="slidenum">
              <a:rPr lang="en-US" dirty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6" name="SGPlot39.png" descr="The SGPlot Procedure" title="The SGPlot Procedure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19301" y="1343420"/>
            <a:ext cx="3379449" cy="25345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28A5B8-BBF9-FFBE-A047-57CA9FD842B1}"/>
              </a:ext>
            </a:extLst>
          </p:cNvPr>
          <p:cNvSpPr txBox="1"/>
          <p:nvPr/>
        </p:nvSpPr>
        <p:spPr>
          <a:xfrm>
            <a:off x="1320800" y="3731638"/>
            <a:ext cx="5943599" cy="569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>
              <a:effectLst/>
            </a:endParaRPr>
          </a:p>
          <a:p>
            <a:pPr marR="0"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2.93%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individuals suffer from hypertension, while </a:t>
            </a: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97.07%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unaffected.</a:t>
            </a:r>
          </a:p>
        </p:txBody>
      </p:sp>
    </p:spTree>
    <p:extLst>
      <p:ext uri="{BB962C8B-B14F-4D97-AF65-F5344CB8AC3E}">
        <p14:creationId xmlns:p14="http://schemas.microsoft.com/office/powerpoint/2010/main" val="2547210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 idx="1"/>
          </p:nvPr>
        </p:nvSpPr>
        <p:spPr>
          <a:xfrm>
            <a:off x="2642040" y="18299"/>
            <a:ext cx="2843915" cy="3856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33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Frequency Table for Respitory_asthma</a:t>
            </a:r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ph type="tbl" idx="2"/>
            <p:extLst>
              <p:ext uri="{D42A27DB-BD31-4B8C-83A1-F6EECF244321}">
                <p14:modId xmlns:p14="http://schemas.microsoft.com/office/powerpoint/2010/main" val="196426156"/>
              </p:ext>
            </p:extLst>
          </p:nvPr>
        </p:nvGraphicFramePr>
        <p:xfrm>
          <a:off x="2751996" y="381000"/>
          <a:ext cx="2624001" cy="827081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239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8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753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Respitory_asthma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COUNT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PERCENT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664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No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99209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99.0070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664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Yes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995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0.9930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02D6B0F3-963C-5F4D-B2DF-270CE0D4EAAA}" type="slidenum">
              <a:rPr lang="en-US" dirty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SGPlot40.png" descr="The SGPlot Procedure&#10;&#10;The SGPlot Procedure">
            <a:extLst>
              <a:ext uri="{FF2B5EF4-FFF2-40B4-BE49-F238E27FC236}">
                <a16:creationId xmlns:a16="http://schemas.microsoft.com/office/drawing/2014/main" id="{DC061C34-C937-D01E-A7A8-AE555667B3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10717" y="1371600"/>
            <a:ext cx="3581125" cy="24794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3A4948-B8F6-0504-69D5-BCF75629B9ED}"/>
              </a:ext>
            </a:extLst>
          </p:cNvPr>
          <p:cNvSpPr txBox="1"/>
          <p:nvPr/>
        </p:nvSpPr>
        <p:spPr>
          <a:xfrm>
            <a:off x="1409696" y="3850344"/>
            <a:ext cx="5308600" cy="569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>
              <a:effectLst/>
            </a:endParaRPr>
          </a:p>
          <a:p>
            <a:pPr marR="0"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0.99%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individuals have respiratory asthma, while </a:t>
            </a: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99.01%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do not.</a:t>
            </a:r>
          </a:p>
        </p:txBody>
      </p:sp>
    </p:spTree>
    <p:extLst>
      <p:ext uri="{BB962C8B-B14F-4D97-AF65-F5344CB8AC3E}">
        <p14:creationId xmlns:p14="http://schemas.microsoft.com/office/powerpoint/2010/main" val="2752543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1"/>
          </p:cNvSpPr>
          <p:nvPr>
            <p:ph type="title" idx="1"/>
          </p:nvPr>
        </p:nvSpPr>
        <p:spPr>
          <a:xfrm>
            <a:off x="2540000" y="92755"/>
            <a:ext cx="2876619" cy="41073"/>
          </a:xfrm>
        </p:spPr>
        <p:txBody>
          <a:bodyPr>
            <a:noAutofit/>
          </a:bodyPr>
          <a:lstStyle/>
          <a:p>
            <a:pPr algn="ctr"/>
            <a:r>
              <a:rPr lang="en-US" sz="133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Frequency Table for Goitre</a:t>
            </a:r>
          </a:p>
        </p:txBody>
      </p:sp>
      <p:graphicFrame>
        <p:nvGraphicFramePr>
          <p:cNvPr id="30" name="Table 4"/>
          <p:cNvGraphicFramePr>
            <a:graphicFrameLocks noGrp="1"/>
          </p:cNvGraphicFramePr>
          <p:nvPr>
            <p:ph type="tbl" idx="2"/>
            <p:extLst>
              <p:ext uri="{D42A27DB-BD31-4B8C-83A1-F6EECF244321}">
                <p14:modId xmlns:p14="http://schemas.microsoft.com/office/powerpoint/2010/main" val="3752638084"/>
              </p:ext>
            </p:extLst>
          </p:nvPr>
        </p:nvGraphicFramePr>
        <p:xfrm>
          <a:off x="2862239" y="228849"/>
          <a:ext cx="2232140" cy="85242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582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753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Goitre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COUNT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PERCENT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No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99803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99.5998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Yes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401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0.4002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02D6B0F3-963C-5F4D-B2DF-270CE0D4EAAA}" type="slidenum">
              <a:rPr lang="en-US" dirty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34" name="SGPlot41.png" descr="The SGPlot Procedure" title="The SGPlot Procedure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74275" y="1219200"/>
            <a:ext cx="3379449" cy="25345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7658CB-ECA1-7604-D382-4697E03CCADF}"/>
              </a:ext>
            </a:extLst>
          </p:cNvPr>
          <p:cNvSpPr txBox="1"/>
          <p:nvPr/>
        </p:nvSpPr>
        <p:spPr>
          <a:xfrm>
            <a:off x="1203099" y="3896791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0.38% of individuals have goitre, while 99.62% do not.</a:t>
            </a:r>
          </a:p>
        </p:txBody>
      </p:sp>
    </p:spTree>
    <p:extLst>
      <p:ext uri="{BB962C8B-B14F-4D97-AF65-F5344CB8AC3E}">
        <p14:creationId xmlns:p14="http://schemas.microsoft.com/office/powerpoint/2010/main" val="2229782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1"/>
          </p:cNvSpPr>
          <p:nvPr>
            <p:ph type="title" idx="1"/>
          </p:nvPr>
        </p:nvSpPr>
        <p:spPr>
          <a:xfrm>
            <a:off x="2692400" y="-76200"/>
            <a:ext cx="2545147" cy="410463"/>
          </a:xfrm>
        </p:spPr>
        <p:txBody>
          <a:bodyPr>
            <a:normAutofit/>
          </a:bodyPr>
          <a:lstStyle/>
          <a:p>
            <a:pPr algn="ctr"/>
            <a:r>
              <a:rPr lang="en-US" sz="1109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Frequency Table for Heart</a:t>
            </a:r>
          </a:p>
        </p:txBody>
      </p:sp>
      <p:graphicFrame>
        <p:nvGraphicFramePr>
          <p:cNvPr id="39" name="Table 5"/>
          <p:cNvGraphicFramePr>
            <a:graphicFrameLocks noGrp="1"/>
          </p:cNvGraphicFramePr>
          <p:nvPr>
            <p:ph type="tbl" idx="2"/>
            <p:extLst>
              <p:ext uri="{D42A27DB-BD31-4B8C-83A1-F6EECF244321}">
                <p14:modId xmlns:p14="http://schemas.microsoft.com/office/powerpoint/2010/main" val="4134178366"/>
              </p:ext>
            </p:extLst>
          </p:nvPr>
        </p:nvGraphicFramePr>
        <p:xfrm>
          <a:off x="2922181" y="228849"/>
          <a:ext cx="2283637" cy="85242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55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753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Heart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COUNT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PERCENT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No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99441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99.2386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Yes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763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0.7614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02D6B0F3-963C-5F4D-B2DF-270CE0D4EAAA}" type="slidenum">
              <a:rPr lang="en-US" dirty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SGPlot42.png" descr="The SGPlot Procedure" title="The SGPlot Procedure">
            <a:extLst>
              <a:ext uri="{FF2B5EF4-FFF2-40B4-BE49-F238E27FC236}">
                <a16:creationId xmlns:a16="http://schemas.microsoft.com/office/drawing/2014/main" id="{938070BD-3238-553B-5A96-088776E08A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87600" y="1219200"/>
            <a:ext cx="3379449" cy="266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FDA72B-EC94-E950-305B-235DBEEDF142}"/>
              </a:ext>
            </a:extLst>
          </p:cNvPr>
          <p:cNvSpPr txBox="1"/>
          <p:nvPr/>
        </p:nvSpPr>
        <p:spPr>
          <a:xfrm>
            <a:off x="1701800" y="3773893"/>
            <a:ext cx="5003800" cy="569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>
              <a:effectLst/>
            </a:endParaRPr>
          </a:p>
          <a:p>
            <a:pPr marR="0"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very small proportion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individuals have heart disease.</a:t>
            </a:r>
          </a:p>
        </p:txBody>
      </p:sp>
    </p:spTree>
    <p:extLst>
      <p:ext uri="{BB962C8B-B14F-4D97-AF65-F5344CB8AC3E}">
        <p14:creationId xmlns:p14="http://schemas.microsoft.com/office/powerpoint/2010/main" val="1947454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 idx="1"/>
          </p:nvPr>
        </p:nvSpPr>
        <p:spPr>
          <a:xfrm>
            <a:off x="1549400" y="0"/>
            <a:ext cx="4815714" cy="410463"/>
          </a:xfrm>
        </p:spPr>
        <p:txBody>
          <a:bodyPr>
            <a:normAutofit/>
          </a:bodyPr>
          <a:lstStyle/>
          <a:p>
            <a:pPr algn="ctr"/>
            <a:r>
              <a:rPr lang="en-US" sz="1109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Frequency Table for Cancer</a:t>
            </a:r>
          </a:p>
        </p:txBody>
      </p:sp>
      <p:graphicFrame>
        <p:nvGraphicFramePr>
          <p:cNvPr id="48" name="Table 6"/>
          <p:cNvGraphicFramePr>
            <a:graphicFrameLocks noGrp="1"/>
          </p:cNvGraphicFramePr>
          <p:nvPr>
            <p:ph type="tbl" idx="2"/>
            <p:extLst>
              <p:ext uri="{D42A27DB-BD31-4B8C-83A1-F6EECF244321}">
                <p14:modId xmlns:p14="http://schemas.microsoft.com/office/powerpoint/2010/main" val="4127383442"/>
              </p:ext>
            </p:extLst>
          </p:nvPr>
        </p:nvGraphicFramePr>
        <p:xfrm>
          <a:off x="2985313" y="397316"/>
          <a:ext cx="2221687" cy="85242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638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753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Cancer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COUNT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PERCENT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No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100053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99.8493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Yes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151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0.1507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0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02D6B0F3-963C-5F4D-B2DF-270CE0D4EAAA}" type="slidenum">
              <a:rPr lang="en-US" dirty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2" name="SGPlot43.png" descr="The SGPlot Procedure" title="The SGPlot Procedure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63800" y="1295400"/>
            <a:ext cx="3379449" cy="25345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EDD7B5-6B90-D951-336A-04C61AA19EDE}"/>
              </a:ext>
            </a:extLst>
          </p:cNvPr>
          <p:cNvSpPr txBox="1"/>
          <p:nvPr/>
        </p:nvSpPr>
        <p:spPr>
          <a:xfrm>
            <a:off x="1397000" y="3819864"/>
            <a:ext cx="6019800" cy="569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>
              <a:effectLst/>
            </a:endParaRPr>
          </a:p>
          <a:p>
            <a:pPr marR="0"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Cancer cases are rare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with only a </a:t>
            </a: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small percentage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affected individuals.</a:t>
            </a:r>
          </a:p>
        </p:txBody>
      </p:sp>
    </p:spTree>
    <p:extLst>
      <p:ext uri="{BB962C8B-B14F-4D97-AF65-F5344CB8AC3E}">
        <p14:creationId xmlns:p14="http://schemas.microsoft.com/office/powerpoint/2010/main" val="1409505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/>
          <p:cNvSpPr>
            <a:spLocks noGrp="1"/>
          </p:cNvSpPr>
          <p:nvPr>
            <p:ph type="title" idx="1"/>
          </p:nvPr>
        </p:nvSpPr>
        <p:spPr>
          <a:xfrm>
            <a:off x="2616200" y="0"/>
            <a:ext cx="2800310" cy="410463"/>
          </a:xfrm>
        </p:spPr>
        <p:txBody>
          <a:bodyPr>
            <a:normAutofit/>
          </a:bodyPr>
          <a:lstStyle/>
          <a:p>
            <a:pPr algn="ctr"/>
            <a:r>
              <a:rPr lang="en-US" sz="1109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Frequency Table for Kidney</a:t>
            </a:r>
          </a:p>
        </p:txBody>
      </p:sp>
      <p:graphicFrame>
        <p:nvGraphicFramePr>
          <p:cNvPr id="57" name="Table 7"/>
          <p:cNvGraphicFramePr>
            <a:graphicFrameLocks noGrp="1"/>
          </p:cNvGraphicFramePr>
          <p:nvPr>
            <p:ph type="tbl" idx="2"/>
            <p:extLst>
              <p:ext uri="{D42A27DB-BD31-4B8C-83A1-F6EECF244321}">
                <p14:modId xmlns:p14="http://schemas.microsoft.com/office/powerpoint/2010/main" val="2900070960"/>
              </p:ext>
            </p:extLst>
          </p:nvPr>
        </p:nvGraphicFramePr>
        <p:xfrm>
          <a:off x="2836114" y="410463"/>
          <a:ext cx="2455772" cy="693274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685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Kidney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COUNT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PERCENT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No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99498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99.2954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Yes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706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0.7046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02D6B0F3-963C-5F4D-B2DF-270CE0D4EAAA}" type="slidenum">
              <a:rPr lang="en-US" dirty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SGPlot44.png" descr="The SGPlot Procedure" title="The SGPlot Procedure">
            <a:extLst>
              <a:ext uri="{FF2B5EF4-FFF2-40B4-BE49-F238E27FC236}">
                <a16:creationId xmlns:a16="http://schemas.microsoft.com/office/drawing/2014/main" id="{5464622C-0B37-8301-7635-2E600DEAEE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74275" y="1219200"/>
            <a:ext cx="3379449" cy="25345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E6DFD5-5726-C065-59AE-A1632509E8A9}"/>
              </a:ext>
            </a:extLst>
          </p:cNvPr>
          <p:cNvSpPr txBox="1"/>
          <p:nvPr/>
        </p:nvSpPr>
        <p:spPr>
          <a:xfrm>
            <a:off x="1473200" y="3753787"/>
            <a:ext cx="6400800" cy="569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>
              <a:effectLst/>
            </a:endParaRPr>
          </a:p>
          <a:p>
            <a:pPr marR="0"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1200" dirty="0"/>
              <a:t>0.32% of individuals have kidney disease, while 99.68% do not.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14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 idx="1"/>
          </p:nvPr>
        </p:nvSpPr>
        <p:spPr>
          <a:xfrm>
            <a:off x="1656143" y="742544"/>
            <a:ext cx="4815714" cy="410463"/>
          </a:xfrm>
        </p:spPr>
        <p:txBody>
          <a:bodyPr>
            <a:normAutofit/>
          </a:bodyPr>
          <a:lstStyle/>
          <a:p>
            <a:pPr algn="ctr"/>
            <a:r>
              <a:rPr lang="en-US" sz="1109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Frequency Table for age_5_Years</a:t>
            </a:r>
          </a:p>
        </p:txBody>
      </p:sp>
      <p:graphicFrame>
        <p:nvGraphicFramePr>
          <p:cNvPr id="66" name="Table 8"/>
          <p:cNvGraphicFramePr>
            <a:graphicFrameLocks noGrp="1"/>
          </p:cNvGraphicFramePr>
          <p:nvPr>
            <p:ph type="tbl" idx="2"/>
            <p:extLst>
              <p:ext uri="{D42A27DB-BD31-4B8C-83A1-F6EECF244321}">
                <p14:modId xmlns:p14="http://schemas.microsoft.com/office/powerpoint/2010/main" val="3736478232"/>
              </p:ext>
            </p:extLst>
          </p:nvPr>
        </p:nvGraphicFramePr>
        <p:xfrm>
          <a:off x="2925199" y="1240484"/>
          <a:ext cx="2342733" cy="2246449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957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8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753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Age_5_Years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COUNT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PERCENT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15-19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16427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16.3936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20-24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14240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14.2110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25-29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14165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14.1362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30-34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13089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13.0624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35-39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12647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12.6213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40-44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10646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10.6243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45-49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10619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10.5974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50-54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8371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8.3540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8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02D6B0F3-963C-5F4D-B2DF-270CE0D4EAAA}" type="slidenum">
              <a:rPr lang="en-US" dirty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3968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SGPlot45.png" descr="The SGPlot Procedure" title="The SGPlot Procedure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133600" y="33293"/>
            <a:ext cx="4165600" cy="3124200"/>
          </a:xfrm>
          <a:prstGeom prst="rect">
            <a:avLst/>
          </a:prstGeom>
        </p:spPr>
      </p:pic>
      <p:sp>
        <p:nvSpPr>
          <p:cNvPr id="72" name="Slide Number Placeholder 1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pPr algn="r"/>
            <a:fld id="{02D6B0F3-963C-5F4D-B2DF-270CE0D4EAAA}" type="slidenum">
              <a:rPr lang="en-US" dirty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FFFC19-768D-8EEB-BE7B-B24DB214025B}"/>
              </a:ext>
            </a:extLst>
          </p:cNvPr>
          <p:cNvSpPr txBox="1"/>
          <p:nvPr/>
        </p:nvSpPr>
        <p:spPr>
          <a:xfrm>
            <a:off x="177800" y="3268704"/>
            <a:ext cx="777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proportion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individuals falls in 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15-19 age group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(16.394%), indicating a younger demographic presence.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proportions gradually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decrease with increasing age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suggesting a declining trend in older age groups. </a:t>
            </a:r>
          </a:p>
        </p:txBody>
      </p:sp>
    </p:spTree>
    <p:extLst>
      <p:ext uri="{BB962C8B-B14F-4D97-AF65-F5344CB8AC3E}">
        <p14:creationId xmlns:p14="http://schemas.microsoft.com/office/powerpoint/2010/main" val="1391295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1"/>
          </p:cNvSpPr>
          <p:nvPr>
            <p:ph type="title" idx="1"/>
          </p:nvPr>
        </p:nvSpPr>
        <p:spPr>
          <a:xfrm>
            <a:off x="1625600" y="-52834"/>
            <a:ext cx="4815714" cy="410463"/>
          </a:xfrm>
        </p:spPr>
        <p:txBody>
          <a:bodyPr>
            <a:normAutofit/>
          </a:bodyPr>
          <a:lstStyle/>
          <a:p>
            <a:pPr algn="ctr"/>
            <a:r>
              <a:rPr lang="en-US" sz="1109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Frequency Table for Smoking</a:t>
            </a:r>
          </a:p>
        </p:txBody>
      </p:sp>
      <p:graphicFrame>
        <p:nvGraphicFramePr>
          <p:cNvPr id="75" name="Table 9"/>
          <p:cNvGraphicFramePr>
            <a:graphicFrameLocks noGrp="1"/>
          </p:cNvGraphicFramePr>
          <p:nvPr>
            <p:ph type="tbl" idx="2"/>
            <p:extLst>
              <p:ext uri="{D42A27DB-BD31-4B8C-83A1-F6EECF244321}">
                <p14:modId xmlns:p14="http://schemas.microsoft.com/office/powerpoint/2010/main" val="2311246403"/>
              </p:ext>
            </p:extLst>
          </p:nvPr>
        </p:nvGraphicFramePr>
        <p:xfrm>
          <a:off x="2817544" y="304800"/>
          <a:ext cx="2648938" cy="87865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940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664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Smoking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COUNT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PERCENT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664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Not at All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86081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85.9058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664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Every Day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6750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6.7363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664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Some Day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7373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7.3580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7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02D6B0F3-963C-5F4D-B2DF-270CE0D4EAAA}" type="slidenum">
              <a:rPr lang="en-US" dirty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79" name="SGPlot46.png" descr="The SGPlot Procedure" title="The SGPlot Procedure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52288" y="1295400"/>
            <a:ext cx="3379449" cy="25345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13C612-6C87-0404-6959-AD94E8726810}"/>
              </a:ext>
            </a:extLst>
          </p:cNvPr>
          <p:cNvSpPr txBox="1"/>
          <p:nvPr/>
        </p:nvSpPr>
        <p:spPr>
          <a:xfrm>
            <a:off x="406400" y="3957937"/>
            <a:ext cx="78993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The majority of individuals (85.91%) do not smoke at all, while a small percentage smoke every day (6.74%) or occasionally (7.36%), indicating low prevalence of regular smoking in the population</a:t>
            </a:r>
          </a:p>
        </p:txBody>
      </p:sp>
    </p:spTree>
    <p:extLst>
      <p:ext uri="{BB962C8B-B14F-4D97-AF65-F5344CB8AC3E}">
        <p14:creationId xmlns:p14="http://schemas.microsoft.com/office/powerpoint/2010/main" val="3493473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1"/>
          <p:cNvSpPr>
            <a:spLocks noGrp="1"/>
          </p:cNvSpPr>
          <p:nvPr>
            <p:ph type="title" idx="1"/>
          </p:nvPr>
        </p:nvSpPr>
        <p:spPr>
          <a:xfrm>
            <a:off x="1778000" y="-52834"/>
            <a:ext cx="4815714" cy="410463"/>
          </a:xfrm>
        </p:spPr>
        <p:txBody>
          <a:bodyPr>
            <a:normAutofit/>
          </a:bodyPr>
          <a:lstStyle/>
          <a:p>
            <a:pPr algn="ctr"/>
            <a:r>
              <a:rPr lang="en-US" sz="1109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Frequency Table for alcohol</a:t>
            </a:r>
          </a:p>
        </p:txBody>
      </p:sp>
      <p:graphicFrame>
        <p:nvGraphicFramePr>
          <p:cNvPr id="84" name="Table 10"/>
          <p:cNvGraphicFramePr>
            <a:graphicFrameLocks noGrp="1"/>
          </p:cNvGraphicFramePr>
          <p:nvPr>
            <p:ph type="tbl" idx="2"/>
            <p:extLst>
              <p:ext uri="{D42A27DB-BD31-4B8C-83A1-F6EECF244321}">
                <p14:modId xmlns:p14="http://schemas.microsoft.com/office/powerpoint/2010/main" val="1579532423"/>
              </p:ext>
            </p:extLst>
          </p:nvPr>
        </p:nvGraphicFramePr>
        <p:xfrm>
          <a:off x="3073400" y="304800"/>
          <a:ext cx="2352931" cy="85242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683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8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753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Alcohol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COUNT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PERCENT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No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74400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74.2485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Yes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25804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25.7515</a:t>
                      </a:r>
                      <a:endParaRPr lang="en-US" sz="900" dirty="0"/>
                    </a:p>
                  </a:txBody>
                  <a:tcPr marL="50691" marR="50691" marT="25346" marB="253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6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02D6B0F3-963C-5F4D-B2DF-270CE0D4EAAA}" type="slidenum">
              <a:rPr lang="en-US" dirty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SGPlot47.png" descr="The SGPlot Procedure" title="The SGPlot Procedure">
            <a:extLst>
              <a:ext uri="{FF2B5EF4-FFF2-40B4-BE49-F238E27FC236}">
                <a16:creationId xmlns:a16="http://schemas.microsoft.com/office/drawing/2014/main" id="{4E389FFE-A728-3099-A90B-F76C84F474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14951" y="1295400"/>
            <a:ext cx="3379449" cy="25345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9D2CC0-93AE-A83F-7442-DE3274BE8303}"/>
              </a:ext>
            </a:extLst>
          </p:cNvPr>
          <p:cNvSpPr txBox="1"/>
          <p:nvPr/>
        </p:nvSpPr>
        <p:spPr>
          <a:xfrm>
            <a:off x="2387600" y="3990201"/>
            <a:ext cx="751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4.87% of individuals consume alcohol, while 95.13% do not.</a:t>
            </a:r>
          </a:p>
        </p:txBody>
      </p:sp>
    </p:spTree>
    <p:extLst>
      <p:ext uri="{BB962C8B-B14F-4D97-AF65-F5344CB8AC3E}">
        <p14:creationId xmlns:p14="http://schemas.microsoft.com/office/powerpoint/2010/main" val="3465035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EA5CF5-E9F2-51A7-75E2-B437725E4FA1}"/>
              </a:ext>
            </a:extLst>
          </p:cNvPr>
          <p:cNvSpPr txBox="1"/>
          <p:nvPr/>
        </p:nvSpPr>
        <p:spPr>
          <a:xfrm>
            <a:off x="88900" y="228600"/>
            <a:ext cx="7950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Conclusion 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shows a low prevalence of chronic diseases, with Diabetes (2.17%), Hypertension (2.93%), and Asthma (0.99%) being the most reported conditions.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cases of Heart Disease, Cancer, and Kidney Disease, suggesting they are rare in this dataset.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smoking and alcohol consumption (</a:t>
            </a:r>
            <a:r>
              <a:rPr lang="en-US" dirty="0"/>
              <a:t>4.87%)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lifestyle risk factors are not highly prevalent.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indent="-285750" algn="l" rtl="0" eaLnBrk="0" fontAlgn="base" latinLnBrk="0" hangingPunct="0">
              <a:buFont typeface="Arial" panose="020B0604020202020204" pitchFamily="34" charset="0"/>
              <a:buChar char="•"/>
            </a:pPr>
            <a:r>
              <a:rPr lang="en-US" b="0" i="0" kern="120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 shows a higher proportion of younger individuals (15-34 years), with a declining trend in older age groups.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28FED6-7F1F-A848-86C3-94EA5AF5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967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C404BB-1442-A21E-6CF6-B2B857DBE73E}"/>
              </a:ext>
            </a:extLst>
          </p:cNvPr>
          <p:cNvSpPr txBox="1"/>
          <p:nvPr/>
        </p:nvSpPr>
        <p:spPr>
          <a:xfrm>
            <a:off x="0" y="4306"/>
            <a:ext cx="8026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A </a:t>
            </a:r>
            <a:r>
              <a:rPr lang="en-US" b="1" i="0" dirty="0">
                <a:effectLst/>
                <a:latin typeface="Arial" panose="020B0604020202020204" pitchFamily="34" charset="0"/>
              </a:rPr>
              <a:t>chi-squared test</a:t>
            </a:r>
            <a:r>
              <a:rPr lang="en-US" b="0" i="0" dirty="0">
                <a:effectLst/>
                <a:latin typeface="Arial" panose="020B0604020202020204" pitchFamily="34" charset="0"/>
              </a:rPr>
              <a:t> (also </a:t>
            </a:r>
            <a:r>
              <a:rPr lang="en-US" b="1" i="0" dirty="0">
                <a:effectLst/>
                <a:latin typeface="Arial" panose="020B0604020202020204" pitchFamily="34" charset="0"/>
              </a:rPr>
              <a:t>chi-square</a:t>
            </a:r>
            <a:r>
              <a:rPr lang="en-US" b="0" i="0" dirty="0">
                <a:effectLst/>
                <a:latin typeface="Arial" panose="020B0604020202020204" pitchFamily="34" charset="0"/>
              </a:rPr>
              <a:t> or </a:t>
            </a:r>
            <a:r>
              <a:rPr lang="en-US" b="1" i="0" dirty="0">
                <a:effectLst/>
                <a:latin typeface="Nimbus Roman No9 L"/>
              </a:rPr>
              <a:t>χ</a:t>
            </a:r>
            <a:r>
              <a:rPr lang="en-US" b="1" i="0" baseline="30000" dirty="0">
                <a:effectLst/>
                <a:latin typeface="Nimbus Roman No9 L"/>
              </a:rPr>
              <a:t>2</a:t>
            </a:r>
            <a:r>
              <a:rPr lang="en-US" b="1" i="0" dirty="0">
                <a:effectLst/>
                <a:latin typeface="Arial" panose="020B0604020202020204" pitchFamily="34" charset="0"/>
              </a:rPr>
              <a:t> test</a:t>
            </a:r>
            <a:r>
              <a:rPr lang="en-US" b="0" i="0" dirty="0">
                <a:effectLst/>
                <a:latin typeface="Arial" panose="020B0604020202020204" pitchFamily="34" charset="0"/>
              </a:rPr>
              <a:t>) :</a:t>
            </a:r>
          </a:p>
          <a:p>
            <a:endParaRPr lang="en-US" b="0" i="0" dirty="0"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chi-squared test  is a </a:t>
            </a:r>
            <a:r>
              <a:rPr lang="en-US" sz="110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tooltip="Statistical hypothesis tes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statistical hypothesis test</a:t>
            </a:r>
            <a:r>
              <a:rPr lang="en-US" sz="1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used in the analysis of </a:t>
            </a:r>
            <a:r>
              <a:rPr lang="en-US" sz="110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 tooltip="Contingency tab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contingency tables</a:t>
            </a:r>
            <a:r>
              <a:rPr lang="en-US" sz="1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when the sample sizes are large.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simpler terms, this test is primarily used to examine whether two categorical variables (two dimensions of the contingency table) are independent in influencing the test statistic (values within the table)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56F407-62E5-B02D-9ADF-BBA62DAB90DA}"/>
              </a:ext>
            </a:extLst>
          </p:cNvPr>
          <p:cNvSpPr txBox="1"/>
          <p:nvPr/>
        </p:nvSpPr>
        <p:spPr>
          <a:xfrm>
            <a:off x="0" y="2166017"/>
            <a:ext cx="80264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100" dirty="0"/>
              <a:t>Hypothesis:</a:t>
            </a:r>
          </a:p>
          <a:p>
            <a:endParaRPr lang="en-US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H0: There is no association between Two Categorical Variable</a:t>
            </a:r>
            <a:br>
              <a:rPr lang="en-US" sz="1100" dirty="0"/>
            </a:br>
            <a:endParaRPr lang="en-US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H1: There is association between Two Categorical Variable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A1B6BA-BBBC-C296-4765-0B31907FCEA6}"/>
              </a:ext>
            </a:extLst>
          </p:cNvPr>
          <p:cNvSpPr txBox="1"/>
          <p:nvPr/>
        </p:nvSpPr>
        <p:spPr>
          <a:xfrm>
            <a:off x="23159" y="1328096"/>
            <a:ext cx="7998759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dirty="0"/>
              <a:t> Formula:</a:t>
            </a:r>
          </a:p>
          <a:p>
            <a:r>
              <a:rPr lang="en-US" sz="1100" dirty="0"/>
              <a:t>                                                                                   </a:t>
            </a:r>
            <a:r>
              <a:rPr lang="en-US" sz="1400" b="1" dirty="0"/>
              <a:t>𝝌𝒄𝟐 =∑ (𝒐𝒊− 𝑬𝒊)  / 𝟐 𝑬𝒊</a:t>
            </a:r>
          </a:p>
          <a:p>
            <a:endParaRPr lang="en-US" sz="1100" dirty="0"/>
          </a:p>
          <a:p>
            <a:r>
              <a:rPr lang="en-US" sz="1100" dirty="0"/>
              <a:t>C=degree of freedom  , O= observed value  , E =expected value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B42CB9-8260-2EBB-7180-2E0C98CF6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145542-9AE6-BA03-5C58-FF5419F59919}"/>
              </a:ext>
            </a:extLst>
          </p:cNvPr>
          <p:cNvSpPr txBox="1"/>
          <p:nvPr/>
        </p:nvSpPr>
        <p:spPr>
          <a:xfrm>
            <a:off x="2235200" y="3200400"/>
            <a:ext cx="3962400" cy="126188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05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Cramér’s V</a:t>
            </a:r>
          </a:p>
          <a:p>
            <a:pPr algn="ctr">
              <a:buNone/>
            </a:pPr>
            <a:endParaRPr lang="en-US" sz="1050" dirty="0"/>
          </a:p>
          <a:p>
            <a:pPr marL="1085850" lvl="2" indent="-171450" algn="just">
              <a:buFont typeface="Wingdings" panose="05000000000000000000" pitchFamily="2" charset="2"/>
              <a:buChar char="Ø"/>
            </a:pPr>
            <a:r>
              <a:rPr lang="en-US" sz="1100" dirty="0"/>
              <a:t>   0 – No Association</a:t>
            </a:r>
          </a:p>
          <a:p>
            <a:pPr marL="1085850" lvl="2" indent="-171450" algn="just">
              <a:buFont typeface="Wingdings" panose="05000000000000000000" pitchFamily="2" charset="2"/>
              <a:buChar char="Ø"/>
            </a:pPr>
            <a:r>
              <a:rPr lang="en-US" sz="1100" dirty="0"/>
              <a:t>   0.10 to 0.30 – Weak Association</a:t>
            </a:r>
          </a:p>
          <a:p>
            <a:pPr marL="1085850" lvl="2" indent="-171450" algn="just">
              <a:buFont typeface="Wingdings" panose="05000000000000000000" pitchFamily="2" charset="2"/>
              <a:buChar char="Ø"/>
            </a:pPr>
            <a:r>
              <a:rPr lang="en-US" sz="1100" dirty="0"/>
              <a:t>   0.30 to 0.50 – Moderate Association</a:t>
            </a:r>
          </a:p>
          <a:p>
            <a:pPr marL="1085850" lvl="2" indent="-171450" algn="just">
              <a:buFont typeface="Wingdings" panose="05000000000000000000" pitchFamily="2" charset="2"/>
              <a:buChar char="Ø"/>
            </a:pPr>
            <a:r>
              <a:rPr lang="en-US" sz="1100" dirty="0"/>
              <a:t>   &gt; 0.50 – Strong Association</a:t>
            </a:r>
          </a:p>
          <a:p>
            <a:pPr marL="1085850" lvl="2" indent="-171450" algn="just">
              <a:buFont typeface="Wingdings" panose="05000000000000000000" pitchFamily="2" charset="2"/>
              <a:buChar char="Ø"/>
            </a:pPr>
            <a:r>
              <a:rPr lang="en-US" sz="1100" dirty="0"/>
              <a:t>   1 – Perfect Association</a:t>
            </a:r>
          </a:p>
        </p:txBody>
      </p:sp>
    </p:spTree>
    <p:extLst>
      <p:ext uri="{BB962C8B-B14F-4D97-AF65-F5344CB8AC3E}">
        <p14:creationId xmlns:p14="http://schemas.microsoft.com/office/powerpoint/2010/main" val="2507907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C9C7-CF5F-E572-A3FE-145F0C8F8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DA9C1D-DABD-FFF0-D197-8E3EC65755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945233"/>
              </p:ext>
            </p:extLst>
          </p:nvPr>
        </p:nvGraphicFramePr>
        <p:xfrm>
          <a:off x="168206" y="1104899"/>
          <a:ext cx="4064001" cy="2362201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553598">
                  <a:extLst>
                    <a:ext uri="{9D8B030D-6E8A-4147-A177-3AD203B41FA5}">
                      <a16:colId xmlns:a16="http://schemas.microsoft.com/office/drawing/2014/main" val="1539677104"/>
                    </a:ext>
                  </a:extLst>
                </a:gridCol>
                <a:gridCol w="836801">
                  <a:extLst>
                    <a:ext uri="{9D8B030D-6E8A-4147-A177-3AD203B41FA5}">
                      <a16:colId xmlns:a16="http://schemas.microsoft.com/office/drawing/2014/main" val="4216860514"/>
                    </a:ext>
                  </a:extLst>
                </a:gridCol>
                <a:gridCol w="836801">
                  <a:extLst>
                    <a:ext uri="{9D8B030D-6E8A-4147-A177-3AD203B41FA5}">
                      <a16:colId xmlns:a16="http://schemas.microsoft.com/office/drawing/2014/main" val="2882502590"/>
                    </a:ext>
                  </a:extLst>
                </a:gridCol>
                <a:gridCol w="836801">
                  <a:extLst>
                    <a:ext uri="{9D8B030D-6E8A-4147-A177-3AD203B41FA5}">
                      <a16:colId xmlns:a16="http://schemas.microsoft.com/office/drawing/2014/main" val="3148779713"/>
                    </a:ext>
                  </a:extLst>
                </a:gridCol>
              </a:tblGrid>
              <a:tr h="241825"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Table of Diabetes by Hypertension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689664"/>
                  </a:ext>
                </a:extLst>
              </a:tr>
              <a:tr h="2418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Diabetes(Diabetes)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Hypertension(Hypertension)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552040"/>
                  </a:ext>
                </a:extLst>
              </a:tr>
              <a:tr h="5040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Frequency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Percent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No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Yes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Total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extLst>
                  <a:ext uri="{0D108BD9-81ED-4DB2-BD59-A6C34878D82A}">
                    <a16:rowId xmlns:a16="http://schemas.microsoft.com/office/drawing/2014/main" val="1625683656"/>
                  </a:ext>
                </a:extLst>
              </a:tr>
              <a:tr h="4581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No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95671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95.48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2363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2.36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98034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97.83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423111268"/>
                  </a:ext>
                </a:extLst>
              </a:tr>
              <a:tr h="4581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Yes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1597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1.59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573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0.57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2170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2.17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2013054732"/>
                  </a:ext>
                </a:extLst>
              </a:tr>
              <a:tr h="4581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Total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97268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97.07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2936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2.93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100204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100.00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112947001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0C9992-6CB9-3F66-97BA-3E1E71757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916509"/>
              </p:ext>
            </p:extLst>
          </p:nvPr>
        </p:nvGraphicFramePr>
        <p:xfrm>
          <a:off x="114300" y="3657600"/>
          <a:ext cx="4191000" cy="795339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525123">
                  <a:extLst>
                    <a:ext uri="{9D8B030D-6E8A-4147-A177-3AD203B41FA5}">
                      <a16:colId xmlns:a16="http://schemas.microsoft.com/office/drawing/2014/main" val="1698534096"/>
                    </a:ext>
                  </a:extLst>
                </a:gridCol>
                <a:gridCol w="1361767">
                  <a:extLst>
                    <a:ext uri="{9D8B030D-6E8A-4147-A177-3AD203B41FA5}">
                      <a16:colId xmlns:a16="http://schemas.microsoft.com/office/drawing/2014/main" val="4128312650"/>
                    </a:ext>
                  </a:extLst>
                </a:gridCol>
                <a:gridCol w="1304110">
                  <a:extLst>
                    <a:ext uri="{9D8B030D-6E8A-4147-A177-3AD203B41FA5}">
                      <a16:colId xmlns:a16="http://schemas.microsoft.com/office/drawing/2014/main" val="1230225587"/>
                    </a:ext>
                  </a:extLst>
                </a:gridCol>
              </a:tblGrid>
              <a:tr h="28224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Statistic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Value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P-Value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extLst>
                  <a:ext uri="{0D108BD9-81ED-4DB2-BD59-A6C34878D82A}">
                    <a16:rowId xmlns:a16="http://schemas.microsoft.com/office/drawing/2014/main" val="910735614"/>
                  </a:ext>
                </a:extLst>
              </a:tr>
              <a:tr h="2565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Chi-Square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4297.7596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&lt;.0001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3228672674"/>
                  </a:ext>
                </a:extLst>
              </a:tr>
              <a:tr h="2565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Cramer's V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0.3071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_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26518217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6838ED5-2F19-F09D-2B54-E3FA023029B2}"/>
              </a:ext>
            </a:extLst>
          </p:cNvPr>
          <p:cNvSpPr txBox="1"/>
          <p:nvPr/>
        </p:nvSpPr>
        <p:spPr>
          <a:xfrm>
            <a:off x="4454594" y="1582729"/>
            <a:ext cx="3505200" cy="140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indent="-1714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Diabetes and Hypertension :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171450" marR="0" lvl="0" indent="-1714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Chi-square value: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4297.760, </a:t>
            </a: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p-value: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0.000</a:t>
            </a:r>
          </a:p>
          <a:p>
            <a:pPr marL="171450" marR="0" lvl="0" indent="-1714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Cramér's V: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0.307 (moderate association)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Interpretation: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Diabetes and hypertension are moderately associated</a:t>
            </a:r>
            <a:endParaRPr 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0C85AC-AA30-80DA-9B90-1A71DC5434C4}"/>
              </a:ext>
            </a:extLst>
          </p:cNvPr>
          <p:cNvSpPr txBox="1"/>
          <p:nvPr/>
        </p:nvSpPr>
        <p:spPr>
          <a:xfrm>
            <a:off x="84418" y="-6014"/>
            <a:ext cx="8026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Hypothesis: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H0: There is no association between Diabetes and Hypertension disease.</a:t>
            </a:r>
          </a:p>
          <a:p>
            <a:r>
              <a:rPr lang="en-US" sz="12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H1: There is association between Diabetes and Hypertension disease.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7AFAB-B956-58D4-3F1B-92B53BC1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066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8BD7F-5E6E-72EE-C4EA-54A09EAA3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0A2DECE-E4C9-F366-66B1-B04501414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449403"/>
              </p:ext>
            </p:extLst>
          </p:nvPr>
        </p:nvGraphicFramePr>
        <p:xfrm>
          <a:off x="133724" y="1295400"/>
          <a:ext cx="3962400" cy="215817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659273">
                  <a:extLst>
                    <a:ext uri="{9D8B030D-6E8A-4147-A177-3AD203B41FA5}">
                      <a16:colId xmlns:a16="http://schemas.microsoft.com/office/drawing/2014/main" val="2692003159"/>
                    </a:ext>
                  </a:extLst>
                </a:gridCol>
                <a:gridCol w="767709">
                  <a:extLst>
                    <a:ext uri="{9D8B030D-6E8A-4147-A177-3AD203B41FA5}">
                      <a16:colId xmlns:a16="http://schemas.microsoft.com/office/drawing/2014/main" val="3198183822"/>
                    </a:ext>
                  </a:extLst>
                </a:gridCol>
                <a:gridCol w="767709">
                  <a:extLst>
                    <a:ext uri="{9D8B030D-6E8A-4147-A177-3AD203B41FA5}">
                      <a16:colId xmlns:a16="http://schemas.microsoft.com/office/drawing/2014/main" val="1698283507"/>
                    </a:ext>
                  </a:extLst>
                </a:gridCol>
                <a:gridCol w="767709">
                  <a:extLst>
                    <a:ext uri="{9D8B030D-6E8A-4147-A177-3AD203B41FA5}">
                      <a16:colId xmlns:a16="http://schemas.microsoft.com/office/drawing/2014/main" val="1543705557"/>
                    </a:ext>
                  </a:extLst>
                </a:gridCol>
              </a:tblGrid>
              <a:tr h="220938"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Table of Alcohol by Diabetes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20348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Alcohol(Alcohol)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Diabetes(Diabetes)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916964"/>
                  </a:ext>
                </a:extLst>
              </a:tr>
              <a:tr h="4604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Frequency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Percent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No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Yes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Total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extLst>
                  <a:ext uri="{0D108BD9-81ED-4DB2-BD59-A6C34878D82A}">
                    <a16:rowId xmlns:a16="http://schemas.microsoft.com/office/drawing/2014/main" val="1089950658"/>
                  </a:ext>
                </a:extLst>
              </a:tr>
              <a:tr h="4186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No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72959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72.81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1441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1.44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74400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74.25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3000042326"/>
                  </a:ext>
                </a:extLst>
              </a:tr>
              <a:tr h="4186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Yes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25075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25.02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729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0.73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25804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25.75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53234146"/>
                  </a:ext>
                </a:extLst>
              </a:tr>
              <a:tr h="4186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Total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98034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97.83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2170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2.17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100204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100.00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231811574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7E887E-9241-A97F-5BAB-71B3676870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70732"/>
              </p:ext>
            </p:extLst>
          </p:nvPr>
        </p:nvGraphicFramePr>
        <p:xfrm>
          <a:off x="133723" y="3733800"/>
          <a:ext cx="3962401" cy="7620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545183">
                  <a:extLst>
                    <a:ext uri="{9D8B030D-6E8A-4147-A177-3AD203B41FA5}">
                      <a16:colId xmlns:a16="http://schemas.microsoft.com/office/drawing/2014/main" val="3367723674"/>
                    </a:ext>
                  </a:extLst>
                </a:gridCol>
                <a:gridCol w="1095954">
                  <a:extLst>
                    <a:ext uri="{9D8B030D-6E8A-4147-A177-3AD203B41FA5}">
                      <a16:colId xmlns:a16="http://schemas.microsoft.com/office/drawing/2014/main" val="2673480814"/>
                    </a:ext>
                  </a:extLst>
                </a:gridCol>
                <a:gridCol w="1321264">
                  <a:extLst>
                    <a:ext uri="{9D8B030D-6E8A-4147-A177-3AD203B41FA5}">
                      <a16:colId xmlns:a16="http://schemas.microsoft.com/office/drawing/2014/main" val="2307212092"/>
                    </a:ext>
                  </a:extLst>
                </a:gridCol>
              </a:tblGrid>
              <a:tr h="2704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Statistic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Value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P-Value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extLst>
                  <a:ext uri="{0D108BD9-81ED-4DB2-BD59-A6C34878D82A}">
                    <a16:rowId xmlns:a16="http://schemas.microsoft.com/office/drawing/2014/main" val="1401494631"/>
                  </a:ext>
                </a:extLst>
              </a:tr>
              <a:tr h="2457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Chi-Square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71.3581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&lt;.0001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27965525"/>
                  </a:ext>
                </a:extLst>
              </a:tr>
              <a:tr h="2457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Cramer's V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0.0267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_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24986707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771FFA7-21B6-6BC0-0057-FB39AC2149CF}"/>
              </a:ext>
            </a:extLst>
          </p:cNvPr>
          <p:cNvSpPr txBox="1"/>
          <p:nvPr/>
        </p:nvSpPr>
        <p:spPr>
          <a:xfrm>
            <a:off x="4369547" y="1447800"/>
            <a:ext cx="3505200" cy="1449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indent="-1714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Alcohol and Diabetes :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Chi-square value: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71.358, </a:t>
            </a: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p-value: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0.000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Cramér's V: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0.027 (very weak association)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Interpretation: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Alcohol consumption has a very weak association with diabetes.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BC730D-FCB6-C430-4181-7C586DEA52AD}"/>
              </a:ext>
            </a:extLst>
          </p:cNvPr>
          <p:cNvSpPr txBox="1"/>
          <p:nvPr/>
        </p:nvSpPr>
        <p:spPr>
          <a:xfrm>
            <a:off x="14942" y="84833"/>
            <a:ext cx="78605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Hypothesis: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H0: There is no association between </a:t>
            </a: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Alcohol </a:t>
            </a:r>
            <a:r>
              <a:rPr lang="en-US" sz="1200" dirty="0"/>
              <a:t>and </a:t>
            </a: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Diabetes</a:t>
            </a:r>
            <a:r>
              <a:rPr lang="en-US" sz="1200" dirty="0"/>
              <a:t> disease.</a:t>
            </a:r>
          </a:p>
          <a:p>
            <a:r>
              <a:rPr lang="en-US" sz="12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H1: There is association between </a:t>
            </a: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Alcohol</a:t>
            </a:r>
            <a:r>
              <a:rPr lang="en-US" sz="1200" dirty="0"/>
              <a:t> and </a:t>
            </a: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Diabetes</a:t>
            </a:r>
            <a:r>
              <a:rPr lang="en-US" sz="1200" dirty="0"/>
              <a:t> disease.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D6682-B54F-3892-9D6D-8C5C6599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11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90767-EE90-739F-F8EF-5E4FB0229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895E20-55A9-2769-EB85-D607D319E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628086"/>
              </p:ext>
            </p:extLst>
          </p:nvPr>
        </p:nvGraphicFramePr>
        <p:xfrm>
          <a:off x="177800" y="1249171"/>
          <a:ext cx="4114800" cy="207365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901670">
                  <a:extLst>
                    <a:ext uri="{9D8B030D-6E8A-4147-A177-3AD203B41FA5}">
                      <a16:colId xmlns:a16="http://schemas.microsoft.com/office/drawing/2014/main" val="4263192168"/>
                    </a:ext>
                  </a:extLst>
                </a:gridCol>
                <a:gridCol w="737710">
                  <a:extLst>
                    <a:ext uri="{9D8B030D-6E8A-4147-A177-3AD203B41FA5}">
                      <a16:colId xmlns:a16="http://schemas.microsoft.com/office/drawing/2014/main" val="1616256678"/>
                    </a:ext>
                  </a:extLst>
                </a:gridCol>
                <a:gridCol w="737710">
                  <a:extLst>
                    <a:ext uri="{9D8B030D-6E8A-4147-A177-3AD203B41FA5}">
                      <a16:colId xmlns:a16="http://schemas.microsoft.com/office/drawing/2014/main" val="344178964"/>
                    </a:ext>
                  </a:extLst>
                </a:gridCol>
                <a:gridCol w="737710">
                  <a:extLst>
                    <a:ext uri="{9D8B030D-6E8A-4147-A177-3AD203B41FA5}">
                      <a16:colId xmlns:a16="http://schemas.microsoft.com/office/drawing/2014/main" val="1794964956"/>
                    </a:ext>
                  </a:extLst>
                </a:gridCol>
              </a:tblGrid>
              <a:tr h="176406"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Table of Smoking by Diabetes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321391"/>
                  </a:ext>
                </a:extLst>
              </a:tr>
              <a:tr h="1764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Smoking(Smoking)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Diabetes(Diabetes)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692311"/>
                  </a:ext>
                </a:extLst>
              </a:tr>
              <a:tr h="36768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Frequency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Percent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No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Yes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Total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extLst>
                  <a:ext uri="{0D108BD9-81ED-4DB2-BD59-A6C34878D82A}">
                    <a16:rowId xmlns:a16="http://schemas.microsoft.com/office/drawing/2014/main" val="2376791679"/>
                  </a:ext>
                </a:extLst>
              </a:tr>
              <a:tr h="3342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Not at All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84302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84.13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1779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1.78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86081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85.91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1991975019"/>
                  </a:ext>
                </a:extLst>
              </a:tr>
              <a:tr h="3342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Every Day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6544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6.53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206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0.21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6750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6.74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3281907143"/>
                  </a:ext>
                </a:extLst>
              </a:tr>
              <a:tr h="3342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Some Day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7188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7.17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185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0.18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7373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7.36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3712681255"/>
                  </a:ext>
                </a:extLst>
              </a:tr>
              <a:tr h="3342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Total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98034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97.83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2170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2.17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100204</a:t>
                      </a:r>
                      <a:br>
                        <a:rPr lang="en-US" sz="1000" kern="100" dirty="0">
                          <a:effectLst/>
                        </a:rPr>
                      </a:br>
                      <a:r>
                        <a:rPr lang="en-US" sz="1000" kern="100" dirty="0">
                          <a:effectLst/>
                        </a:rPr>
                        <a:t>100.00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138737495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D7CD1E-AB8A-EF41-FDB7-88FEA0EAD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148135"/>
              </p:ext>
            </p:extLst>
          </p:nvPr>
        </p:nvGraphicFramePr>
        <p:xfrm>
          <a:off x="177800" y="3576918"/>
          <a:ext cx="4114799" cy="914399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604612">
                  <a:extLst>
                    <a:ext uri="{9D8B030D-6E8A-4147-A177-3AD203B41FA5}">
                      <a16:colId xmlns:a16="http://schemas.microsoft.com/office/drawing/2014/main" val="2940492322"/>
                    </a:ext>
                  </a:extLst>
                </a:gridCol>
                <a:gridCol w="1138105">
                  <a:extLst>
                    <a:ext uri="{9D8B030D-6E8A-4147-A177-3AD203B41FA5}">
                      <a16:colId xmlns:a16="http://schemas.microsoft.com/office/drawing/2014/main" val="2203972484"/>
                    </a:ext>
                  </a:extLst>
                </a:gridCol>
                <a:gridCol w="1372082">
                  <a:extLst>
                    <a:ext uri="{9D8B030D-6E8A-4147-A177-3AD203B41FA5}">
                      <a16:colId xmlns:a16="http://schemas.microsoft.com/office/drawing/2014/main" val="896958538"/>
                    </a:ext>
                  </a:extLst>
                </a:gridCol>
              </a:tblGrid>
              <a:tr h="3245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Statistic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Value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P-Value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 anchor="b"/>
                </a:tc>
                <a:extLst>
                  <a:ext uri="{0D108BD9-81ED-4DB2-BD59-A6C34878D82A}">
                    <a16:rowId xmlns:a16="http://schemas.microsoft.com/office/drawing/2014/main" val="2894298634"/>
                  </a:ext>
                </a:extLst>
              </a:tr>
              <a:tr h="29494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Chi-Square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33.1086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&lt;.0001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2319218992"/>
                  </a:ext>
                </a:extLst>
              </a:tr>
              <a:tr h="29494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Cramer's V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0.0182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_</a:t>
                      </a: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24590877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C1C7F8-E238-70BD-7784-32312ACE2193}"/>
              </a:ext>
            </a:extLst>
          </p:cNvPr>
          <p:cNvSpPr txBox="1"/>
          <p:nvPr/>
        </p:nvSpPr>
        <p:spPr>
          <a:xfrm>
            <a:off x="4368800" y="1371600"/>
            <a:ext cx="4064372" cy="1449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indent="-1714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Smoking and Diabetes :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Chi-square value: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33.109, </a:t>
            </a: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p-value: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0.000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Cramér's V: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0.018 (very weak association)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Interpretation: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Smoking has a very weak association with diabetes.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F20D7E-DA33-330A-C1E2-3B48D1A97248}"/>
              </a:ext>
            </a:extLst>
          </p:cNvPr>
          <p:cNvSpPr txBox="1"/>
          <p:nvPr/>
        </p:nvSpPr>
        <p:spPr>
          <a:xfrm>
            <a:off x="50800" y="47544"/>
            <a:ext cx="80263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3736" indent="-173736" algn="l" rtl="0" eaLnBrk="1" latinLnBrk="0" hangingPunct="1">
              <a:buClrTx/>
              <a:buSzPts val="1200"/>
              <a:buFont typeface="Wingdings" panose="05000000000000000000" pitchFamily="2" charset="2"/>
              <a:buChar char="Ø"/>
            </a:pPr>
            <a:r>
              <a:rPr lang="en-US" sz="1200" kern="1200" dirty="0">
                <a:solidFill>
                  <a:srgbClr val="FFFFFF"/>
                </a:solidFill>
                <a:effectLst/>
                <a:latin typeface="Calisto MT" panose="02040603050505030304" pitchFamily="18" charset="0"/>
                <a:ea typeface="+mn-ea"/>
                <a:cs typeface="+mn-cs"/>
              </a:rPr>
              <a:t>Hypothesis:</a:t>
            </a:r>
          </a:p>
          <a:p>
            <a:pPr algn="l" rtl="0" eaLnBrk="1" latinLnBrk="0" hangingPunct="1">
              <a:buClrTx/>
              <a:buSzPts val="1200"/>
            </a:pPr>
            <a:endParaRPr lang="en-US" sz="1200" dirty="0">
              <a:effectLst/>
            </a:endParaRPr>
          </a:p>
          <a:p>
            <a:pPr marL="173736" indent="-173736" algn="l" rtl="0" eaLnBrk="1" latinLnBrk="0" hangingPunct="1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rgbClr val="FFFFFF"/>
                </a:solidFill>
                <a:effectLst/>
                <a:latin typeface="Calisto MT" panose="02040603050505030304" pitchFamily="18" charset="0"/>
                <a:ea typeface="+mn-ea"/>
                <a:cs typeface="+mn-cs"/>
              </a:rPr>
              <a:t>H0: There is no association </a:t>
            </a: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Smoking </a:t>
            </a:r>
            <a:r>
              <a:rPr lang="en-US" sz="1200" kern="1200" dirty="0">
                <a:solidFill>
                  <a:srgbClr val="FFFFFF"/>
                </a:solidFill>
                <a:effectLst/>
                <a:latin typeface="Calisto MT" panose="02040603050505030304" pitchFamily="18" charset="0"/>
                <a:ea typeface="+mn-ea"/>
                <a:cs typeface="+mn-cs"/>
              </a:rPr>
              <a:t>between and Diabetes disease.</a:t>
            </a:r>
            <a:endParaRPr lang="en-US" sz="1200" dirty="0">
              <a:effectLst/>
            </a:endParaRPr>
          </a:p>
          <a:p>
            <a:pPr marL="0" algn="l" rtl="0" eaLnBrk="1" latinLnBrk="0" hangingPunct="1">
              <a:buNone/>
            </a:pPr>
            <a:r>
              <a:rPr lang="en-US" sz="1200" kern="1200" dirty="0">
                <a:solidFill>
                  <a:srgbClr val="FFFFFF"/>
                </a:solidFill>
                <a:effectLst/>
                <a:latin typeface="Calisto MT" panose="02040603050505030304" pitchFamily="18" charset="0"/>
                <a:ea typeface="+mn-ea"/>
                <a:cs typeface="+mn-cs"/>
              </a:rPr>
              <a:t> </a:t>
            </a:r>
            <a:endParaRPr lang="en-US" sz="1200" dirty="0">
              <a:effectLst/>
            </a:endParaRPr>
          </a:p>
          <a:p>
            <a:pPr marL="173736" indent="-173736" algn="l" rtl="0" eaLnBrk="1" latinLnBrk="0" hangingPunct="1">
              <a:buFont typeface="Arial" panose="020B0604020202020204" pitchFamily="34" charset="0"/>
              <a:buChar char="•"/>
            </a:pPr>
            <a:r>
              <a:rPr lang="en-US" sz="1200" kern="1200" dirty="0">
                <a:effectLst/>
                <a:latin typeface="Calisto MT" panose="02040603050505030304" pitchFamily="18" charset="0"/>
                <a:ea typeface="+mn-ea"/>
                <a:cs typeface="+mn-cs"/>
              </a:rPr>
              <a:t>H1: There is association between </a:t>
            </a: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Smoking</a:t>
            </a:r>
            <a:r>
              <a:rPr lang="en-US" sz="1200" kern="1200" dirty="0">
                <a:effectLst/>
                <a:latin typeface="Calisto MT" panose="02040603050505030304" pitchFamily="18" charset="0"/>
                <a:ea typeface="+mn-ea"/>
                <a:cs typeface="+mn-cs"/>
              </a:rPr>
              <a:t> and </a:t>
            </a:r>
            <a:r>
              <a:rPr lang="en-US" sz="1200" kern="1200" dirty="0">
                <a:solidFill>
                  <a:srgbClr val="FFFFFF"/>
                </a:solidFill>
                <a:effectLst/>
                <a:latin typeface="Calisto MT" panose="02040603050505030304" pitchFamily="18" charset="0"/>
                <a:ea typeface="+mn-ea"/>
                <a:cs typeface="+mn-cs"/>
              </a:rPr>
              <a:t>Diabetes disease.</a:t>
            </a:r>
            <a:endParaRPr lang="en-US" sz="120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BBC7-4FCB-5FF0-EDEB-DDE47B2E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3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C3339-B9F4-31DF-857F-9E94ECBE9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64786E-985D-339E-2497-6C937C3AB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053399"/>
              </p:ext>
            </p:extLst>
          </p:nvPr>
        </p:nvGraphicFramePr>
        <p:xfrm>
          <a:off x="101600" y="38100"/>
          <a:ext cx="3886200" cy="446540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058424">
                  <a:extLst>
                    <a:ext uri="{9D8B030D-6E8A-4147-A177-3AD203B41FA5}">
                      <a16:colId xmlns:a16="http://schemas.microsoft.com/office/drawing/2014/main" val="1895336787"/>
                    </a:ext>
                  </a:extLst>
                </a:gridCol>
                <a:gridCol w="661315">
                  <a:extLst>
                    <a:ext uri="{9D8B030D-6E8A-4147-A177-3AD203B41FA5}">
                      <a16:colId xmlns:a16="http://schemas.microsoft.com/office/drawing/2014/main" val="3478445448"/>
                    </a:ext>
                  </a:extLst>
                </a:gridCol>
                <a:gridCol w="595844">
                  <a:extLst>
                    <a:ext uri="{9D8B030D-6E8A-4147-A177-3AD203B41FA5}">
                      <a16:colId xmlns:a16="http://schemas.microsoft.com/office/drawing/2014/main" val="208795505"/>
                    </a:ext>
                  </a:extLst>
                </a:gridCol>
                <a:gridCol w="570617">
                  <a:extLst>
                    <a:ext uri="{9D8B030D-6E8A-4147-A177-3AD203B41FA5}">
                      <a16:colId xmlns:a16="http://schemas.microsoft.com/office/drawing/2014/main" val="3957093292"/>
                    </a:ext>
                  </a:extLst>
                </a:gridCol>
              </a:tblGrid>
              <a:tr h="23935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Disease Pair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Statistic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Value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P-Value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 anchor="b"/>
                </a:tc>
                <a:extLst>
                  <a:ext uri="{0D108BD9-81ED-4DB2-BD59-A6C34878D82A}">
                    <a16:rowId xmlns:a16="http://schemas.microsoft.com/office/drawing/2014/main" val="1323188518"/>
                  </a:ext>
                </a:extLst>
              </a:tr>
              <a:tr h="212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Diabetes * Hypertension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4297.7596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3384548983"/>
                  </a:ext>
                </a:extLst>
              </a:tr>
              <a:tr h="212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  <a:highlight>
                            <a:srgbClr val="00FF00"/>
                          </a:highlight>
                        </a:rPr>
                        <a:t>Table Diabetes * Hypertension</a:t>
                      </a:r>
                      <a:endParaRPr lang="en-US" sz="800" kern="1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  <a:highlight>
                            <a:srgbClr val="00FF00"/>
                          </a:highlight>
                        </a:rPr>
                        <a:t>Cramer's V</a:t>
                      </a:r>
                      <a:endParaRPr lang="en-US" sz="800" kern="1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  <a:highlight>
                            <a:srgbClr val="00FF00"/>
                          </a:highlight>
                        </a:rPr>
                        <a:t>0.3071</a:t>
                      </a:r>
                      <a:endParaRPr lang="en-US" sz="800" kern="1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4048252812"/>
                  </a:ext>
                </a:extLst>
              </a:tr>
              <a:tr h="212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Diabetes * Respitory_asthma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584.5146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1480330973"/>
                  </a:ext>
                </a:extLst>
              </a:tr>
              <a:tr h="212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Diabetes * Respitory_asthma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Cramer's V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0.0764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2686531881"/>
                  </a:ext>
                </a:extLst>
              </a:tr>
              <a:tr h="212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Diabetes * Goitre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652.6729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955543380"/>
                  </a:ext>
                </a:extLst>
              </a:tr>
              <a:tr h="18243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Diabetes * Goitre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Cramer's V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0.0807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3503142616"/>
                  </a:ext>
                </a:extLst>
              </a:tr>
              <a:tr h="212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Diabetes * Heart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747.0873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2017476018"/>
                  </a:ext>
                </a:extLst>
              </a:tr>
              <a:tr h="212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Diabetes * Heart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Cramer's V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0.0863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3558660681"/>
                  </a:ext>
                </a:extLst>
              </a:tr>
              <a:tr h="212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Diabetes * Cancer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654.6565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1908929897"/>
                  </a:ext>
                </a:extLst>
              </a:tr>
              <a:tr h="212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Diabetes * Cancer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Cramer's V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0.0808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1649788009"/>
                  </a:ext>
                </a:extLst>
              </a:tr>
              <a:tr h="212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Diabetes * Kidney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365.8172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342069644"/>
                  </a:ext>
                </a:extLst>
              </a:tr>
              <a:tr h="212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Diabetes * Kidney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Cramer's V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0.0604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22818458"/>
                  </a:ext>
                </a:extLst>
              </a:tr>
              <a:tr h="212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Hypertension * Respitory_asthma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1397.0461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2293706169"/>
                  </a:ext>
                </a:extLst>
              </a:tr>
              <a:tr h="212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Hypertension * Respitory_asthma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Cramer's V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0.1181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2727220571"/>
                  </a:ext>
                </a:extLst>
              </a:tr>
              <a:tr h="212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Hypertension * Goitre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782.0049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888682574"/>
                  </a:ext>
                </a:extLst>
              </a:tr>
              <a:tr h="212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Hypertension * Goitre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Cramer's V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0.0883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73179378"/>
                  </a:ext>
                </a:extLst>
              </a:tr>
              <a:tr h="212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Hypertension * Heart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1548.9935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2575535984"/>
                  </a:ext>
                </a:extLst>
              </a:tr>
              <a:tr h="212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Hypertension * Heart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Cramer's V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0.1243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3864985324"/>
                  </a:ext>
                </a:extLst>
              </a:tr>
              <a:tr h="212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Hypertension * Cancer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669.3561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3781443715"/>
                  </a:ext>
                </a:extLst>
              </a:tr>
              <a:tr h="212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Hypertension * Cancer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Cramer's V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0.0817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30296" marR="30296" marT="0" marB="0"/>
                </a:tc>
                <a:extLst>
                  <a:ext uri="{0D108BD9-81ED-4DB2-BD59-A6C34878D82A}">
                    <a16:rowId xmlns:a16="http://schemas.microsoft.com/office/drawing/2014/main" val="425010179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A73028-84ED-8E30-20C3-E721E6423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763421"/>
              </p:ext>
            </p:extLst>
          </p:nvPr>
        </p:nvGraphicFramePr>
        <p:xfrm>
          <a:off x="4445000" y="38089"/>
          <a:ext cx="3581400" cy="449581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896980">
                  <a:extLst>
                    <a:ext uri="{9D8B030D-6E8A-4147-A177-3AD203B41FA5}">
                      <a16:colId xmlns:a16="http://schemas.microsoft.com/office/drawing/2014/main" val="530818728"/>
                    </a:ext>
                  </a:extLst>
                </a:gridCol>
                <a:gridCol w="609447">
                  <a:extLst>
                    <a:ext uri="{9D8B030D-6E8A-4147-A177-3AD203B41FA5}">
                      <a16:colId xmlns:a16="http://schemas.microsoft.com/office/drawing/2014/main" val="868356254"/>
                    </a:ext>
                  </a:extLst>
                </a:gridCol>
                <a:gridCol w="549111">
                  <a:extLst>
                    <a:ext uri="{9D8B030D-6E8A-4147-A177-3AD203B41FA5}">
                      <a16:colId xmlns:a16="http://schemas.microsoft.com/office/drawing/2014/main" val="183051437"/>
                    </a:ext>
                  </a:extLst>
                </a:gridCol>
                <a:gridCol w="525862">
                  <a:extLst>
                    <a:ext uri="{9D8B030D-6E8A-4147-A177-3AD203B41FA5}">
                      <a16:colId xmlns:a16="http://schemas.microsoft.com/office/drawing/2014/main" val="1319369343"/>
                    </a:ext>
                  </a:extLst>
                </a:gridCol>
              </a:tblGrid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Hypertension * Kidney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484.7761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2366031334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Hypertension * Kidney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Cramer's V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0.0696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2700460823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Respitory_asthma * Goitre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2109.8388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916823592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Respitory_asthma * Goitre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Cramer's V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0.1451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2165328949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Respitory_asthma * Heart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1820.8455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2214569653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Respitory_asthma * Heart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Cramer's V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0.1348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1339613866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Respitory_asthma * Cancer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1720.5496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534357736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Respitory_asthma * Cancer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Cramer's V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0.1310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2294739009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Respitory_asthma * Kidney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837.8578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2021952139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Respitory_asthma * Kidney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Cramer's V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0.0914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4227410395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Goitre * Heart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1715.1327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346246608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Goitre * Heart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Cramer's V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0.1308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4257731989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Goitre * Cancer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3897.3921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1184890087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  <a:highlight>
                            <a:srgbClr val="00FF00"/>
                          </a:highlight>
                        </a:rPr>
                        <a:t>Table Goitre * Cancer</a:t>
                      </a:r>
                      <a:endParaRPr lang="en-US" sz="800" kern="1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  <a:highlight>
                            <a:srgbClr val="00FF00"/>
                          </a:highlight>
                        </a:rPr>
                        <a:t>Cramer's V</a:t>
                      </a:r>
                      <a:endParaRPr lang="en-US" sz="800" kern="1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  <a:highlight>
                            <a:srgbClr val="00FF00"/>
                          </a:highlight>
                        </a:rPr>
                        <a:t>0.3972</a:t>
                      </a:r>
                      <a:endParaRPr lang="en-US" sz="800" kern="1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3648069526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Goitre * Kidney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1383.4887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3929935727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Goitre * Kidney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Cramer's V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0.1175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2637847485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Heart * Cancer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2737.8383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3469347608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Heart * Cancer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Cramer's V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0.1653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1609888538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Heart * Kidney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1449.4195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2317537586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Heart * Kidney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Cramer's V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0.1203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1252836800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Cancer * Kidney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Chi-Square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2966.2899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&lt;.0001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1078425714"/>
                  </a:ext>
                </a:extLst>
              </a:tr>
              <a:tr h="2043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Table Cancer * Kidney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Cramer's V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0.1721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_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9057" marR="29057" marT="0" marB="0"/>
                </a:tc>
                <a:extLst>
                  <a:ext uri="{0D108BD9-81ED-4DB2-BD59-A6C34878D82A}">
                    <a16:rowId xmlns:a16="http://schemas.microsoft.com/office/drawing/2014/main" val="3876490184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4A0023-75ED-6365-F264-55473230B414}"/>
              </a:ext>
            </a:extLst>
          </p:cNvPr>
          <p:cNvCxnSpPr/>
          <p:nvPr/>
        </p:nvCxnSpPr>
        <p:spPr>
          <a:xfrm>
            <a:off x="4216400" y="38100"/>
            <a:ext cx="0" cy="44958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839F8-86AE-B926-99F7-397CFF69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115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D2C64-357F-1DA9-95BB-86EB98E3C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B8CD2B-4376-24B0-4F8B-3AD586E8F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286229"/>
              </p:ext>
            </p:extLst>
          </p:nvPr>
        </p:nvGraphicFramePr>
        <p:xfrm>
          <a:off x="101600" y="76200"/>
          <a:ext cx="3657600" cy="44929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943170">
                  <a:extLst>
                    <a:ext uri="{9D8B030D-6E8A-4147-A177-3AD203B41FA5}">
                      <a16:colId xmlns:a16="http://schemas.microsoft.com/office/drawing/2014/main" val="668961137"/>
                    </a:ext>
                  </a:extLst>
                </a:gridCol>
                <a:gridCol w="620304">
                  <a:extLst>
                    <a:ext uri="{9D8B030D-6E8A-4147-A177-3AD203B41FA5}">
                      <a16:colId xmlns:a16="http://schemas.microsoft.com/office/drawing/2014/main" val="3808028651"/>
                    </a:ext>
                  </a:extLst>
                </a:gridCol>
                <a:gridCol w="558894">
                  <a:extLst>
                    <a:ext uri="{9D8B030D-6E8A-4147-A177-3AD203B41FA5}">
                      <a16:colId xmlns:a16="http://schemas.microsoft.com/office/drawing/2014/main" val="3042226857"/>
                    </a:ext>
                  </a:extLst>
                </a:gridCol>
                <a:gridCol w="535232">
                  <a:extLst>
                    <a:ext uri="{9D8B030D-6E8A-4147-A177-3AD203B41FA5}">
                      <a16:colId xmlns:a16="http://schemas.microsoft.com/office/drawing/2014/main" val="367678081"/>
                    </a:ext>
                  </a:extLst>
                </a:gridCol>
              </a:tblGrid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Age_5_Years * Hypertension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0.1437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3783330541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Age_5_Years * Respitory_asthma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309.7141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&lt;.0001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3301022695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Age_5_Years * Respitory_asthma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0.0556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3635069282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Age_5_Years * Goitre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55.8360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&lt;.0001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3936152734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Age_5_Years * Goitre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0.0236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2772604298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Age_5_Years * Heart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307.7513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&lt;.0001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2157283790"/>
                  </a:ext>
                </a:extLst>
              </a:tr>
              <a:tr h="2370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Age_5_Years * Heart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0.0554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2330536042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Age_5_Years * Cancer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26.4169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0.0004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4094005994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Age_5_Years * Cancer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0.0162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732756998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Age_5_Years * Kidney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93.9211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&lt;.0001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656240058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Age_5_Years * Kidney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0.0306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3821882678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Urban_Rural * Diabetes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82.8043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&lt;.0001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2755786731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Urban_Rural * Diabetes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-0.0287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1911136415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Urban_Rural * Hypertension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49.7493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&lt;.0001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1237122373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Urban_Rural * Hypertension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-0.0223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4002877056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Urban_Rural * Respitory_asthma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7.0091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0.0081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2048403424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Urban_Rural * Respitory_asthma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0.0084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1335514946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Urban_Rural * Goitre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0.7455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0.3879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4257689737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Urban_Rural * Goitre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0.0027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945667990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Urban_Rural * Heart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13.2518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0.0003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129684396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Urban_Rural * Heart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0.0115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3294356543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Urban_Rural * Cancer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1.4000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0.2367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2450486749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Urban_Rural * Cancer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0.0037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3228448692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Urban_Rural * Kidney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0.3747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0.5404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3434376506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Urban_Rural * Kidney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0.0019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2910528655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Smoking * Diabetes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33.1086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&lt;.0001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2358810566"/>
                  </a:ext>
                </a:extLst>
              </a:tr>
              <a:tr h="163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Smoking * Diabetes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0.0182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3676" marR="23676" marT="0" marB="0"/>
                </a:tc>
                <a:extLst>
                  <a:ext uri="{0D108BD9-81ED-4DB2-BD59-A6C34878D82A}">
                    <a16:rowId xmlns:a16="http://schemas.microsoft.com/office/drawing/2014/main" val="283896328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8CF30A-D966-03BE-A1D9-2989ABDB4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701175"/>
              </p:ext>
            </p:extLst>
          </p:nvPr>
        </p:nvGraphicFramePr>
        <p:xfrm>
          <a:off x="4216400" y="76200"/>
          <a:ext cx="3810001" cy="441961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024135">
                  <a:extLst>
                    <a:ext uri="{9D8B030D-6E8A-4147-A177-3AD203B41FA5}">
                      <a16:colId xmlns:a16="http://schemas.microsoft.com/office/drawing/2014/main" val="2475442150"/>
                    </a:ext>
                  </a:extLst>
                </a:gridCol>
                <a:gridCol w="646151">
                  <a:extLst>
                    <a:ext uri="{9D8B030D-6E8A-4147-A177-3AD203B41FA5}">
                      <a16:colId xmlns:a16="http://schemas.microsoft.com/office/drawing/2014/main" val="1304903767"/>
                    </a:ext>
                  </a:extLst>
                </a:gridCol>
                <a:gridCol w="582182">
                  <a:extLst>
                    <a:ext uri="{9D8B030D-6E8A-4147-A177-3AD203B41FA5}">
                      <a16:colId xmlns:a16="http://schemas.microsoft.com/office/drawing/2014/main" val="3970885712"/>
                    </a:ext>
                  </a:extLst>
                </a:gridCol>
                <a:gridCol w="557533">
                  <a:extLst>
                    <a:ext uri="{9D8B030D-6E8A-4147-A177-3AD203B41FA5}">
                      <a16:colId xmlns:a16="http://schemas.microsoft.com/office/drawing/2014/main" val="1680232399"/>
                    </a:ext>
                  </a:extLst>
                </a:gridCol>
              </a:tblGrid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Smoking * Hypertension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187.9833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&lt;.0001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77529769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Smoking * Hypertension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0.0433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384181409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Smoking * Respitory_asthma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37.1660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&lt;.0001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2781613476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Smoking * Respitory_asthma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0.0193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4099005661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Smoking * Goitre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26.0347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&lt;.0001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2878650601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Smoking * Goitre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0.0161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3374192077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Smoking * Heart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35.9145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&lt;.0001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4236109145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Smoking * Heart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0.0189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3465371373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Smoking * Cancer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6.2649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0.0436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2176255139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Smoking * Cancer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0.0079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1647334686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Smoking * Kidney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61.4703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&lt;.0001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864744984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Smoking * Kidney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0.0248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526747354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Alcohol * Diabetes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71.3581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&lt;.0001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258766445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Alcohol * Diabetes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0.0267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504726780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Alcohol * Hypertension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376.4824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&lt;.0001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479161537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Alcohol * Hypertension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0.0613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590222415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Alcohol * Respitory_asthma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76.1620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&lt;.0001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2789518935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Alcohol * Respitory_asthma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0.0276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3624381402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Alcohol * Goitre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11.5795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0.0007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3533590669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Alcohol * Goitre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0.0107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2016078729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Alcohol * Heart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19.0499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&lt;.0001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3876422343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Alcohol * Heart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0.0138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2000398165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Alcohol * Cancer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0.2887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0.5911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869044588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Alcohol * Cancer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-0.0017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646660149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Alcohol * Kidney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Chi-Square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46.7916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&lt;.0001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3176842388"/>
                  </a:ext>
                </a:extLst>
              </a:tr>
              <a:tr h="1699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Table Alcohol * Kidney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Cramer's V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0.0216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_</a:t>
                      </a:r>
                      <a:endParaRPr lang="en-US" sz="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24587" marR="24587" marT="0" marB="0"/>
                </a:tc>
                <a:extLst>
                  <a:ext uri="{0D108BD9-81ED-4DB2-BD59-A6C34878D82A}">
                    <a16:rowId xmlns:a16="http://schemas.microsoft.com/office/drawing/2014/main" val="1510971350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1F87AD-5E20-A156-B81C-108E3D2CB895}"/>
              </a:ext>
            </a:extLst>
          </p:cNvPr>
          <p:cNvCxnSpPr/>
          <p:nvPr/>
        </p:nvCxnSpPr>
        <p:spPr>
          <a:xfrm>
            <a:off x="3987800" y="0"/>
            <a:ext cx="0" cy="45720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1090D-077E-BCF2-F3DB-C6FAACB5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630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1083E-2A7A-6AB2-4433-1EC2DD3C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4B4B11-32A4-555A-5E9D-7C93937A3282}"/>
              </a:ext>
            </a:extLst>
          </p:cNvPr>
          <p:cNvSpPr txBox="1"/>
          <p:nvPr/>
        </p:nvSpPr>
        <p:spPr>
          <a:xfrm>
            <a:off x="0" y="191644"/>
            <a:ext cx="8128000" cy="3661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indent="-1714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Final Conclusion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Age is weakly associated with most chronic diseases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, but diabetes and hypertension show stronger trends with increasing age.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Diabetes and hypertension have a moderate association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, meaning people with diabetes are more likely to have hypertension.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Other diseases, including heart disease, cancer, kidney disease, and respiratory asthma, have weak associations with diabetes and hypertension.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228600" marR="0" lvl="0" indent="-228600">
              <a:lnSpc>
                <a:spcPct val="115000"/>
              </a:lnSpc>
              <a:spcAft>
                <a:spcPts val="800"/>
              </a:spcAft>
              <a:buAutoNum type="arabicPeriod" startAt="4"/>
              <a:tabLst>
                <a:tab pos="4572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  Smoking and alcohol consumption show weak associations with chronic diseases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, with hypertension being the most 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        affected condition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Goitre has a moderate association with cancer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, suggesting a potential risk link.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This analysis confirms that </a:t>
            </a: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age, diabetes, and hypertension are key risk factors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, while lifestyle habits like smoking and alcohol have weaker effects.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D811C8-27D3-4B28-9732-8835B1D5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647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26B95-DF10-62B4-B611-9323C3CD8F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1D33DADB-31B5-DF45-93CB-D6B5C71A14DE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0FD5A7-2077-9352-F1A8-507F8AFDB7CA}"/>
              </a:ext>
            </a:extLst>
          </p:cNvPr>
          <p:cNvSpPr txBox="1"/>
          <p:nvPr/>
        </p:nvSpPr>
        <p:spPr>
          <a:xfrm>
            <a:off x="203146" y="3133126"/>
            <a:ext cx="79054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dirty="0">
              <a:solidFill>
                <a:schemeClr val="accent1">
                  <a:lumMod val="50000"/>
                </a:schemeClr>
              </a:solidFill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chemeClr val="accent1">
                    <a:lumMod val="50000"/>
                  </a:schemeClr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SAS Code:</a:t>
            </a:r>
          </a:p>
          <a:p>
            <a:endParaRPr lang="en-US" sz="1200" dirty="0">
              <a:solidFill>
                <a:schemeClr val="accent1">
                  <a:lumMod val="50000"/>
                </a:schemeClr>
              </a:solidFill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chemeClr val="accent1">
                    <a:lumMod val="50000"/>
                  </a:schemeClr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proc logistic data=work.import descending;</a:t>
            </a:r>
          </a:p>
          <a:p>
            <a:r>
              <a:rPr lang="en-US" sz="1200" dirty="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model diabetes = </a:t>
            </a:r>
            <a:r>
              <a:rPr lang="en-US" sz="1200" dirty="0" err="1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current_age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Smoking alcohol hypertension kidney cancer  heart / link=logit ;</a:t>
            </a:r>
          </a:p>
          <a:p>
            <a:r>
              <a:rPr lang="en-US" sz="1200" dirty="0">
                <a:solidFill>
                  <a:schemeClr val="accent1">
                    <a:lumMod val="50000"/>
                  </a:schemeClr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en-US" sz="12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69ADB-565B-EF62-A40F-860F8B0985AF}"/>
              </a:ext>
            </a:extLst>
          </p:cNvPr>
          <p:cNvSpPr txBox="1"/>
          <p:nvPr/>
        </p:nvSpPr>
        <p:spPr>
          <a:xfrm>
            <a:off x="101601" y="46523"/>
            <a:ext cx="792479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3:</a:t>
            </a:r>
          </a:p>
          <a:p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 the relationship between Chronic Diseases and Risk Factors :</a:t>
            </a:r>
          </a:p>
          <a:p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C143A2-19D8-566C-2C53-0494DCB6105A}"/>
              </a:ext>
            </a:extLst>
          </p:cNvPr>
          <p:cNvSpPr txBox="1"/>
          <p:nvPr/>
        </p:nvSpPr>
        <p:spPr>
          <a:xfrm>
            <a:off x="101600" y="957172"/>
            <a:ext cx="78232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Logistic Regression: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" indent="-142875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Logistic Regression is a statistical method used when the dependent variable is binary, meaning it has two possible outcomes (e.g., yes/no, success/failure, 0/1).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use: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When the outcome is categorical with two levels (e.g., presence or absence of a disease).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When you want to estimate the probability of an event occurring based on predictor variables.</a:t>
            </a:r>
          </a:p>
        </p:txBody>
      </p:sp>
    </p:spTree>
    <p:extLst>
      <p:ext uri="{BB962C8B-B14F-4D97-AF65-F5344CB8AC3E}">
        <p14:creationId xmlns:p14="http://schemas.microsoft.com/office/powerpoint/2010/main" val="28380495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c Title 1"/>
          <p:cNvSpPr txBox="1">
            <a:spLocks noGrp="1"/>
          </p:cNvSpPr>
          <p:nvPr/>
        </p:nvSpPr>
        <p:spPr>
          <a:xfrm>
            <a:off x="-1193800" y="-30699"/>
            <a:ext cx="3257550" cy="15716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Output :</a:t>
            </a:r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833015647"/>
              </p:ext>
            </p:extLst>
          </p:nvPr>
        </p:nvGraphicFramePr>
        <p:xfrm>
          <a:off x="2139950" y="586772"/>
          <a:ext cx="2990850" cy="1623027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86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10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Model Information</a:t>
                      </a:r>
                    </a:p>
                  </a:txBody>
                  <a:tcPr marL="34290" marR="34290" marT="17146" marB="17146" anchor="b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09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Data Set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WORK.IMPORT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09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Response Variable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diabetes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482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Number of Response Levels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2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09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Model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binary logit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09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Optimization Technique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Fisher's scoring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70D2B-AFE2-7044-A91B-24C2F6B555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1D33DADB-31B5-DF45-93CB-D6B5C71A14DE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98458D4-A435-348A-3754-C97076492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146068"/>
              </p:ext>
            </p:extLst>
          </p:nvPr>
        </p:nvGraphicFramePr>
        <p:xfrm>
          <a:off x="2119520" y="2387419"/>
          <a:ext cx="3011280" cy="42005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340646">
                  <a:extLst>
                    <a:ext uri="{9D8B030D-6E8A-4147-A177-3AD203B41FA5}">
                      <a16:colId xmlns:a16="http://schemas.microsoft.com/office/drawing/2014/main" val="285170345"/>
                    </a:ext>
                  </a:extLst>
                </a:gridCol>
                <a:gridCol w="670634">
                  <a:extLst>
                    <a:ext uri="{9D8B030D-6E8A-4147-A177-3AD203B41FA5}">
                      <a16:colId xmlns:a16="http://schemas.microsoft.com/office/drawing/2014/main" val="3383683372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Number of Observations Read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100204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360551452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Number of Observations Used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100204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274648855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EE592A4-3CCB-C702-3601-987467477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809813"/>
              </p:ext>
            </p:extLst>
          </p:nvPr>
        </p:nvGraphicFramePr>
        <p:xfrm>
          <a:off x="2139950" y="3124200"/>
          <a:ext cx="3011280" cy="121919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22407">
                  <a:extLst>
                    <a:ext uri="{9D8B030D-6E8A-4147-A177-3AD203B41FA5}">
                      <a16:colId xmlns:a16="http://schemas.microsoft.com/office/drawing/2014/main" val="1125525423"/>
                    </a:ext>
                  </a:extLst>
                </a:gridCol>
                <a:gridCol w="945925">
                  <a:extLst>
                    <a:ext uri="{9D8B030D-6E8A-4147-A177-3AD203B41FA5}">
                      <a16:colId xmlns:a16="http://schemas.microsoft.com/office/drawing/2014/main" val="825542591"/>
                    </a:ext>
                  </a:extLst>
                </a:gridCol>
                <a:gridCol w="1142948">
                  <a:extLst>
                    <a:ext uri="{9D8B030D-6E8A-4147-A177-3AD203B41FA5}">
                      <a16:colId xmlns:a16="http://schemas.microsoft.com/office/drawing/2014/main" val="3529561283"/>
                    </a:ext>
                  </a:extLst>
                </a:gridCol>
              </a:tblGrid>
              <a:tr h="253139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Response Profile</a:t>
                      </a:r>
                    </a:p>
                  </a:txBody>
                  <a:tcPr marL="34290" marR="34290" marT="17146" marB="17146" anchor="b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008894"/>
                  </a:ext>
                </a:extLst>
              </a:tr>
              <a:tr h="459782"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Ordered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Value</a:t>
                      </a:r>
                    </a:p>
                  </a:txBody>
                  <a:tcPr marL="34290" marR="34290" marT="17146" marB="17146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diabetes</a:t>
                      </a:r>
                    </a:p>
                  </a:txBody>
                  <a:tcPr marL="34290" marR="34290" marT="17146" marB="17146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Total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Frequency</a:t>
                      </a:r>
                    </a:p>
                  </a:txBody>
                  <a:tcPr marL="34290" marR="34290" marT="17146" marB="17146" anchor="b"/>
                </a:tc>
                <a:extLst>
                  <a:ext uri="{0D108BD9-81ED-4DB2-BD59-A6C34878D82A}">
                    <a16:rowId xmlns:a16="http://schemas.microsoft.com/office/drawing/2014/main" val="3358667405"/>
                  </a:ext>
                </a:extLst>
              </a:tr>
              <a:tr h="253139"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1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1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2170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2911843361"/>
                  </a:ext>
                </a:extLst>
              </a:tr>
              <a:tr h="253139"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2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0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98034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4177584285"/>
                  </a:ext>
                </a:extLst>
              </a:tr>
            </a:tbl>
          </a:graphicData>
        </a:graphic>
      </p:graphicFrame>
      <p:sp>
        <p:nvSpPr>
          <p:cNvPr id="14" name="Proc Title 1">
            <a:extLst>
              <a:ext uri="{FF2B5EF4-FFF2-40B4-BE49-F238E27FC236}">
                <a16:creationId xmlns:a16="http://schemas.microsoft.com/office/drawing/2014/main" id="{BD40E393-3E7F-C777-80A8-177E8F304052}"/>
              </a:ext>
            </a:extLst>
          </p:cNvPr>
          <p:cNvSpPr txBox="1">
            <a:spLocks noGrp="1"/>
          </p:cNvSpPr>
          <p:nvPr/>
        </p:nvSpPr>
        <p:spPr>
          <a:xfrm>
            <a:off x="1948070" y="14498"/>
            <a:ext cx="3257550" cy="15716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LOGISTIC Procedure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roc Title 1"/>
          <p:cNvSpPr txBox="1">
            <a:spLocks noGrp="1"/>
          </p:cNvSpPr>
          <p:nvPr/>
        </p:nvSpPr>
        <p:spPr>
          <a:xfrm>
            <a:off x="2311400" y="76200"/>
            <a:ext cx="3257550" cy="15716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050" dirty="0"/>
              <a:t>The LOGISTIC Procedure</a:t>
            </a:r>
            <a:endParaRPr lang="en-US" sz="1200" dirty="0"/>
          </a:p>
        </p:txBody>
      </p:sp>
      <p:graphicFrame>
        <p:nvGraphicFramePr>
          <p:cNvPr id="34" name="Table 7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712037344"/>
              </p:ext>
            </p:extLst>
          </p:nvPr>
        </p:nvGraphicFramePr>
        <p:xfrm>
          <a:off x="635000" y="457200"/>
          <a:ext cx="7010399" cy="38100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551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4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1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16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91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0173">
                <a:tc gridSpan="6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Analysis of Maximum Likelihood Estimates</a:t>
                      </a:r>
                    </a:p>
                  </a:txBody>
                  <a:tcPr marL="34290" marR="34290" marT="17146" marB="17146" anchor="b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308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Parameter</a:t>
                      </a:r>
                    </a:p>
                  </a:txBody>
                  <a:tcPr marL="34290" marR="34290" marT="17146" marB="17146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DF</a:t>
                      </a:r>
                    </a:p>
                  </a:txBody>
                  <a:tcPr marL="34290" marR="34290" marT="17146" marB="17146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Estimate</a:t>
                      </a:r>
                    </a:p>
                  </a:txBody>
                  <a:tcPr marL="34290" marR="34290" marT="17146" marB="17146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Standard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Error</a:t>
                      </a:r>
                    </a:p>
                  </a:txBody>
                  <a:tcPr marL="34290" marR="34290" marT="17146" marB="17146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Wald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Chi-Square</a:t>
                      </a:r>
                    </a:p>
                  </a:txBody>
                  <a:tcPr marL="34290" marR="34290" marT="17146" marB="17146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Pr &gt; 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ChiSq</a:t>
                      </a:r>
                    </a:p>
                  </a:txBody>
                  <a:tcPr marL="34290" marR="34290" marT="17146" marB="17146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173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Intercept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-6.6642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0.0962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4799.1273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&lt;.0001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173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current_age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0.0698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0.00229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926.8222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&lt;.0001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173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Smoking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0.0766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0.0386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3.9500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0.0469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3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alcohol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0.0181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0.0498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0.1326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0.7158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308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hypertension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2.0481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0.0571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1287.9609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&lt;.0001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173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kidney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0.8904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0.1484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35.9735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&lt;.0001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173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cancer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1.5959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0.2364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45.5893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&lt;.0001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173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heart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0.8963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0.1250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51.4328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&lt;.0001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50597C-33C2-3D3A-9B33-6930D771C0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1D33DADB-31B5-DF45-93CB-D6B5C71A14DE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56F0B-0496-F663-5697-20DE4886C82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1D33DADB-31B5-DF45-93CB-D6B5C71A14D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3FA5FA-2C10-202C-513E-03401B96C817}"/>
              </a:ext>
            </a:extLst>
          </p:cNvPr>
          <p:cNvSpPr txBox="1"/>
          <p:nvPr/>
        </p:nvSpPr>
        <p:spPr>
          <a:xfrm>
            <a:off x="0" y="59237"/>
            <a:ext cx="8127999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8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9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Analysis of Maximum Likelihood Estimates</a:t>
            </a:r>
            <a:endParaRPr lang="en-US" sz="9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171450" indent="-171450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n-US" sz="9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Intercept:</a:t>
            </a:r>
            <a:endParaRPr lang="en-US" sz="9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9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Estimate:</a:t>
            </a:r>
            <a:r>
              <a:rPr lang="en-US" sz="9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-6.6642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9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Standard Error:</a:t>
            </a:r>
            <a:r>
              <a:rPr lang="en-US" sz="9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0.0962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9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Wald Chi-Square:</a:t>
            </a:r>
            <a:r>
              <a:rPr lang="en-US" sz="9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4799.1273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9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p-value:</a:t>
            </a:r>
            <a:r>
              <a:rPr lang="en-US" sz="9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 0.0001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9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Interpretation:</a:t>
            </a:r>
            <a:r>
              <a:rPr lang="en-US" sz="9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intercept represents the baseline log-odds of having diabetes when all predictors are zero. The negative value suggests a lower baseline probability of diabetes when the predictors are absent, but the intercept should be considered in the context of the predictors.</a:t>
            </a:r>
          </a:p>
          <a:p>
            <a:pPr marL="171450" indent="-171450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n-US" sz="9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current_age:</a:t>
            </a:r>
            <a:endParaRPr lang="en-US" sz="9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9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Estimate:</a:t>
            </a:r>
            <a:r>
              <a:rPr lang="en-US" sz="9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0.0698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9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Standard Error:</a:t>
            </a:r>
            <a:r>
              <a:rPr lang="en-US" sz="9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0.00229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9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Wald Chi-Square:</a:t>
            </a:r>
            <a:r>
              <a:rPr lang="en-US" sz="9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926.8222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9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p-value:</a:t>
            </a:r>
            <a:r>
              <a:rPr lang="en-US" sz="9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 0.0001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9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Interpretation:</a:t>
            </a:r>
            <a:r>
              <a:rPr lang="en-US" sz="9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positive coefficient indicates that as age increases by 1 year, the log-odds of having diabetes increase by 0.0698. This result is statistically significant, meaning aging increases the likelihood of diabetes.</a:t>
            </a:r>
          </a:p>
          <a:p>
            <a:pPr marL="171450" indent="-171450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n-US" sz="9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Smoking:</a:t>
            </a:r>
            <a:endParaRPr lang="en-US" sz="9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9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Estimate:</a:t>
            </a:r>
            <a:r>
              <a:rPr lang="en-US" sz="9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0.0766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9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Standard Error:</a:t>
            </a:r>
            <a:r>
              <a:rPr lang="en-US" sz="9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0.0386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9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Wald Chi-Square:</a:t>
            </a:r>
            <a:r>
              <a:rPr lang="en-US" sz="9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3.9500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9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p-value:</a:t>
            </a:r>
            <a:r>
              <a:rPr lang="en-US" sz="9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0.0469</a:t>
            </a:r>
          </a:p>
          <a:p>
            <a:pPr marL="142875" indent="-142875">
              <a:buFont typeface="Wingdings" panose="05000000000000000000" pitchFamily="2" charset="2"/>
              <a:buChar char="Ø"/>
            </a:pPr>
            <a:r>
              <a:rPr lang="en-US" sz="900" b="1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Interpretation:</a:t>
            </a:r>
            <a:r>
              <a:rPr lang="en-US" sz="9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The positive coefficient for Smoking suggests that smoking is associated with an increased likelihood of diabetes. The p-value (0.0469) is below the 0.05 threshold, indicating that the effect is statistically significant</a:t>
            </a:r>
            <a:endParaRPr lang="en-US" sz="9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563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E2730-9659-1BD1-20B1-E21F74893A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1D33DADB-31B5-DF45-93CB-D6B5C71A14D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45ADE-AF10-2721-B302-CC87A9C19348}"/>
              </a:ext>
            </a:extLst>
          </p:cNvPr>
          <p:cNvSpPr txBox="1"/>
          <p:nvPr/>
        </p:nvSpPr>
        <p:spPr>
          <a:xfrm>
            <a:off x="1892300" y="247185"/>
            <a:ext cx="2286000" cy="242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15000"/>
              </a:lnSpc>
              <a:spcAft>
                <a:spcPts val="400"/>
              </a:spcAft>
              <a:buFont typeface="+mj-lt"/>
              <a:buAutoNum type="arabicPeriod"/>
            </a:pPr>
            <a:endParaRPr lang="en-US" sz="9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150B84-DF38-4619-44B1-D84290849BEB}"/>
              </a:ext>
            </a:extLst>
          </p:cNvPr>
          <p:cNvSpPr txBox="1"/>
          <p:nvPr/>
        </p:nvSpPr>
        <p:spPr>
          <a:xfrm>
            <a:off x="0" y="-103116"/>
            <a:ext cx="7899400" cy="4778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875" indent="-142875" eaLnBrk="0" fontAlgn="base" hangingPunct="0">
              <a:buFont typeface="Wingdings" panose="05000000000000000000" pitchFamily="2" charset="2"/>
              <a:buChar char="Ø"/>
            </a:pP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" indent="-142875" eaLnBrk="0" fontAlgn="base" hangingPunct="0">
              <a:buFont typeface="Wingdings" panose="05000000000000000000" pitchFamily="2" charset="2"/>
              <a:buChar char="Ø"/>
            </a:pPr>
            <a:r>
              <a:rPr lang="en-US" sz="104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alcohol:</a:t>
            </a:r>
          </a:p>
          <a:p>
            <a:pPr eaLnBrk="0" fontAlgn="base" hangingPunct="0"/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475" indent="-142875" eaLnBrk="0" fontAlgn="base" hangingPunct="0">
              <a:buFont typeface="Wingdings" panose="05000000000000000000" pitchFamily="2" charset="2"/>
              <a:buChar char="Ø"/>
            </a:pPr>
            <a:r>
              <a:rPr lang="en-US" sz="104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Estimate:</a:t>
            </a:r>
            <a:r>
              <a:rPr lang="en-US" sz="10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0.0181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475" indent="-142875" eaLnBrk="0" fontAlgn="base" hangingPunct="0">
              <a:buFont typeface="Wingdings" panose="05000000000000000000" pitchFamily="2" charset="2"/>
              <a:buChar char="Ø"/>
            </a:pPr>
            <a:r>
              <a:rPr lang="en-US" sz="104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Standard Error:</a:t>
            </a:r>
            <a:r>
              <a:rPr lang="en-US" sz="10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0.0498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475" indent="-142875" eaLnBrk="0" fontAlgn="base" hangingPunct="0">
              <a:buFont typeface="Wingdings" panose="05000000000000000000" pitchFamily="2" charset="2"/>
              <a:buChar char="Ø"/>
            </a:pPr>
            <a:r>
              <a:rPr lang="en-US" sz="104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Wald Chi-Square:</a:t>
            </a:r>
            <a:r>
              <a:rPr lang="en-US" sz="10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0.1326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475" indent="-142875" eaLnBrk="0" fontAlgn="base" hangingPunct="0">
              <a:buFont typeface="Wingdings" panose="05000000000000000000" pitchFamily="2" charset="2"/>
              <a:buChar char="Ø"/>
            </a:pPr>
            <a:r>
              <a:rPr lang="en-US" sz="104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p-value:</a:t>
            </a:r>
            <a:r>
              <a:rPr lang="en-US" sz="10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0.7158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475" indent="-142875" eaLnBrk="0" fontAlgn="base" hangingPunct="0">
              <a:buFont typeface="Wingdings" panose="05000000000000000000" pitchFamily="2" charset="2"/>
              <a:buChar char="Ø"/>
            </a:pPr>
            <a:r>
              <a:rPr lang="en-US" sz="104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Interpretation:</a:t>
            </a:r>
            <a:r>
              <a:rPr lang="en-US" sz="10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coefficient for alcohol is positive, but the p-value (0.7158) is much higher than the typical 0.05 significance level, suggesting that alcohol consumption does not have a statistically significant effect on the likelihood of diabetes in this model.</a:t>
            </a:r>
          </a:p>
          <a:p>
            <a:pPr marL="371475" indent="-142875" eaLnBrk="0" fontAlgn="base" hangingPunct="0">
              <a:buFont typeface="Wingdings" panose="05000000000000000000" pitchFamily="2" charset="2"/>
              <a:buChar char="Ø"/>
            </a:pP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" indent="-142875" eaLnBrk="0" fontAlgn="base" hangingPunct="0">
              <a:buFont typeface="Wingdings" panose="05000000000000000000" pitchFamily="2" charset="2"/>
              <a:buChar char="Ø"/>
            </a:pPr>
            <a:r>
              <a:rPr lang="en-US" sz="104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hypertension:</a:t>
            </a:r>
          </a:p>
          <a:p>
            <a:pPr marL="142875" indent="-142875" eaLnBrk="0" fontAlgn="base" hangingPunct="0">
              <a:buFont typeface="Wingdings" panose="05000000000000000000" pitchFamily="2" charset="2"/>
              <a:buChar char="Ø"/>
            </a:pPr>
            <a:endParaRPr lang="en-US" sz="104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42875" indent="-142875" eaLnBrk="0" fontAlgn="base" hangingPunct="0">
              <a:buFont typeface="Wingdings" panose="05000000000000000000" pitchFamily="2" charset="2"/>
              <a:buChar char="Ø"/>
            </a:pP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475" indent="-142875" eaLnBrk="0" fontAlgn="base" hangingPunct="0">
              <a:buFont typeface="Wingdings" panose="05000000000000000000" pitchFamily="2" charset="2"/>
              <a:buChar char="Ø"/>
            </a:pPr>
            <a:r>
              <a:rPr lang="en-US" sz="104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Estimate:</a:t>
            </a:r>
            <a:r>
              <a:rPr lang="en-US" sz="10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2.0481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475" indent="-142875" eaLnBrk="0" fontAlgn="base" hangingPunct="0">
              <a:buFont typeface="Wingdings" panose="05000000000000000000" pitchFamily="2" charset="2"/>
              <a:buChar char="Ø"/>
            </a:pPr>
            <a:r>
              <a:rPr lang="en-US" sz="104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Standard Error:</a:t>
            </a:r>
            <a:r>
              <a:rPr lang="en-US" sz="10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0.0571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475" indent="-142875" eaLnBrk="0" fontAlgn="base" hangingPunct="0">
              <a:buFont typeface="Wingdings" panose="05000000000000000000" pitchFamily="2" charset="2"/>
              <a:buChar char="Ø"/>
            </a:pPr>
            <a:r>
              <a:rPr lang="en-US" sz="104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Wald Chi-Square:</a:t>
            </a:r>
            <a:r>
              <a:rPr lang="en-US" sz="10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1287.9609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475" indent="-142875" eaLnBrk="0" fontAlgn="base" hangingPunct="0">
              <a:buFont typeface="Wingdings" panose="05000000000000000000" pitchFamily="2" charset="2"/>
              <a:buChar char="Ø"/>
            </a:pPr>
            <a:r>
              <a:rPr lang="en-US" sz="104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p-value:</a:t>
            </a:r>
            <a:r>
              <a:rPr lang="en-US" sz="10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0.0001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475" indent="-142875" eaLnBrk="0" fontAlgn="base" hangingPunct="0">
              <a:buFont typeface="Wingdings" panose="05000000000000000000" pitchFamily="2" charset="2"/>
              <a:buChar char="Ø"/>
            </a:pPr>
            <a:r>
              <a:rPr lang="en-US" sz="104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Interpretation:</a:t>
            </a:r>
            <a:r>
              <a:rPr lang="en-US" sz="10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positive coefficient for hypertension indicates that individuals with hypertension have significantly higher odds of developing diabetes. This relationship is highly statistically significant.</a:t>
            </a:r>
          </a:p>
          <a:p>
            <a:pPr marL="371475" indent="-142875" eaLnBrk="0" fontAlgn="base" hangingPunct="0">
              <a:buFont typeface="Wingdings" panose="05000000000000000000" pitchFamily="2" charset="2"/>
              <a:buChar char="Ø"/>
            </a:pP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" indent="-142875" eaLnBrk="0" fontAlgn="base" hangingPunct="0">
              <a:buFont typeface="Wingdings" panose="05000000000000000000" pitchFamily="2" charset="2"/>
              <a:buChar char="Ø"/>
            </a:pPr>
            <a:r>
              <a:rPr lang="en-US" sz="104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kidney:</a:t>
            </a:r>
          </a:p>
          <a:p>
            <a:pPr marL="142875" indent="-142875" eaLnBrk="0" fontAlgn="base" hangingPunct="0">
              <a:buFont typeface="Wingdings" panose="05000000000000000000" pitchFamily="2" charset="2"/>
              <a:buChar char="Ø"/>
            </a:pPr>
            <a:endParaRPr lang="en-US" sz="104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42875" indent="-142875" eaLnBrk="0" fontAlgn="base" hangingPunct="0">
              <a:buFont typeface="Wingdings" panose="05000000000000000000" pitchFamily="2" charset="2"/>
              <a:buChar char="Ø"/>
            </a:pP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475" indent="-142875" eaLnBrk="0" fontAlgn="base" hangingPunct="0">
              <a:buFont typeface="Wingdings" panose="05000000000000000000" pitchFamily="2" charset="2"/>
              <a:buChar char="Ø"/>
            </a:pPr>
            <a:r>
              <a:rPr lang="en-US" sz="104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Estimate:</a:t>
            </a:r>
            <a:r>
              <a:rPr lang="en-US" sz="10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0.8904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475" indent="-142875" eaLnBrk="0" fontAlgn="base" hangingPunct="0">
              <a:buFont typeface="Wingdings" panose="05000000000000000000" pitchFamily="2" charset="2"/>
              <a:buChar char="Ø"/>
            </a:pPr>
            <a:r>
              <a:rPr lang="en-US" sz="104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Standard Error:</a:t>
            </a:r>
            <a:r>
              <a:rPr lang="en-US" sz="10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0.1484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475" indent="-142875" eaLnBrk="0" fontAlgn="base" hangingPunct="0">
              <a:buFont typeface="Wingdings" panose="05000000000000000000" pitchFamily="2" charset="2"/>
              <a:buChar char="Ø"/>
            </a:pPr>
            <a:r>
              <a:rPr lang="en-US" sz="104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Wald Chi-Square:</a:t>
            </a:r>
            <a:r>
              <a:rPr lang="en-US" sz="10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35.9735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475" indent="-142875" eaLnBrk="0" fontAlgn="base" hangingPunct="0">
              <a:buFont typeface="Wingdings" panose="05000000000000000000" pitchFamily="2" charset="2"/>
              <a:buChar char="Ø"/>
            </a:pPr>
            <a:r>
              <a:rPr lang="en-US" sz="104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p-value:</a:t>
            </a:r>
            <a:r>
              <a:rPr lang="en-US" sz="10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0.0001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475" indent="-142875" eaLnBrk="0" fontAlgn="base" hangingPunct="0">
              <a:buFont typeface="Wingdings" panose="05000000000000000000" pitchFamily="2" charset="2"/>
              <a:buChar char="Ø"/>
            </a:pPr>
            <a:r>
              <a:rPr lang="en-US" sz="104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Interpretation:</a:t>
            </a:r>
            <a:r>
              <a:rPr lang="en-US" sz="10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positive coefficient for kidney issues suggests that individuals with kidney disease are more likely to develop diabetes. This result is statistically significant.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637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CDFA9F9-26DE-55C2-4E95-AA3ABCD8B218}"/>
              </a:ext>
            </a:extLst>
          </p:cNvPr>
          <p:cNvSpPr txBox="1"/>
          <p:nvPr/>
        </p:nvSpPr>
        <p:spPr>
          <a:xfrm>
            <a:off x="101600" y="228600"/>
            <a:ext cx="8026400" cy="3774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cancer: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Estimate: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1.5959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Standard Error: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0.2364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Wald Chi-Square: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45.5893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p-value: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 0.0001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Interpretation: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coefficient for cancer is quite high, indicating that individuals with cancer have much higher odds of developing diabetes. This effect is highly statistically significant.</a:t>
            </a:r>
          </a:p>
          <a:p>
            <a:pPr marL="171450" indent="-171450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heart: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Estimate: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0.8963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Standard Error: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0.1250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Wald Chi-Square: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51.4328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p-value: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 0.0001</a:t>
            </a:r>
          </a:p>
          <a:p>
            <a:pPr marL="142875" indent="-142875">
              <a:buFont typeface="Wingdings" panose="05000000000000000000" pitchFamily="2" charset="2"/>
              <a:buChar char="Ø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Interpretation: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The positive coefficient for heart disease indicates that individuals with heart disease are significantly more likely to develop diabetes. This result is statistically significant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D950ED-93B5-0F11-AE07-1755263C0BC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1D33DADB-31B5-DF45-93CB-D6B5C71A14DE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2657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606B3-4083-71FE-6A82-DD7D1F7420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1D33DADB-31B5-DF45-93CB-D6B5C71A14D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0F8EE1-1F94-5B4F-85FB-B6625EC9E83D}"/>
              </a:ext>
            </a:extLst>
          </p:cNvPr>
          <p:cNvSpPr txBox="1"/>
          <p:nvPr/>
        </p:nvSpPr>
        <p:spPr>
          <a:xfrm>
            <a:off x="101600" y="612628"/>
            <a:ext cx="8000999" cy="224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Conclusion: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171450" indent="-171450">
              <a:lnSpc>
                <a:spcPct val="115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Significant Predictors: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current_age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Smoking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hypertension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kidney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cancer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heart disease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significantly associated with the likelihood of developing diabetes, as indicated by their very low p-values (&lt; 0.0001).</a:t>
            </a:r>
          </a:p>
          <a:p>
            <a:pPr marL="171450" indent="-171450">
              <a:lnSpc>
                <a:spcPct val="115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Non-Significant Predictor: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alcohol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not statistically significant at the 5% level, meaning that alcohol consumption does not independently affect the likelihood of diabetes in this model.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This analysis suggests that age, smoking, hypertension, kidney disease, cancer, and heart disease are all strongly associated with diabetes risk, while alcohol does not appear to have a significant independent effect.</a:t>
            </a:r>
          </a:p>
        </p:txBody>
      </p:sp>
    </p:spTree>
    <p:extLst>
      <p:ext uri="{BB962C8B-B14F-4D97-AF65-F5344CB8AC3E}">
        <p14:creationId xmlns:p14="http://schemas.microsoft.com/office/powerpoint/2010/main" val="25930200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roc Title 1"/>
          <p:cNvSpPr txBox="1">
            <a:spLocks noGrp="1"/>
          </p:cNvSpPr>
          <p:nvPr/>
        </p:nvSpPr>
        <p:spPr>
          <a:xfrm>
            <a:off x="2082800" y="0"/>
            <a:ext cx="3257550" cy="15716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750" dirty="0"/>
              <a:t>The LOGISTIC Procedure</a:t>
            </a:r>
            <a:endParaRPr lang="en-US" sz="900" dirty="0"/>
          </a:p>
        </p:txBody>
      </p:sp>
      <p:graphicFrame>
        <p:nvGraphicFramePr>
          <p:cNvPr id="39" name="Table 8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068538712"/>
              </p:ext>
            </p:extLst>
          </p:nvPr>
        </p:nvGraphicFramePr>
        <p:xfrm>
          <a:off x="2311400" y="201933"/>
          <a:ext cx="2895599" cy="165735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22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9642">
                <a:tc gridSpan="4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Odds Ratio Estimates</a:t>
                      </a:r>
                    </a:p>
                  </a:txBody>
                  <a:tcPr marL="34290" marR="34290" marT="17146" marB="17146" anchor="b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216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Effect</a:t>
                      </a:r>
                    </a:p>
                  </a:txBody>
                  <a:tcPr marL="34290" marR="34290" marT="17146" marB="17146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Point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Estimate</a:t>
                      </a:r>
                    </a:p>
                  </a:txBody>
                  <a:tcPr marL="34290" marR="34290" marT="17146" marB="17146" anchor="b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95% Wald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Confidence Limits</a:t>
                      </a:r>
                    </a:p>
                  </a:txBody>
                  <a:tcPr marL="34290" marR="34290" marT="17146" marB="17146" anchor="b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642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current_age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1.072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1.067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1.077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642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Smoking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1.080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1.001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1.164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642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alcohol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1.018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0.924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1.123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642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hypertension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7.753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6.932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8.670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642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kidney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2.436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1.821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3.259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642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cancer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4.933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3.104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7.840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642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heart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2.450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1.918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3.130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A94D62-36CA-0DA5-9A34-03C2AD49F9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1D33DADB-31B5-DF45-93CB-D6B5C71A14D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E69A2F-DCFB-C34F-387E-808F75FAF16C}"/>
              </a:ext>
            </a:extLst>
          </p:cNvPr>
          <p:cNvSpPr txBox="1"/>
          <p:nvPr/>
        </p:nvSpPr>
        <p:spPr>
          <a:xfrm>
            <a:off x="0" y="1859285"/>
            <a:ext cx="8128000" cy="261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8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current_age (OR = 1.072; CI = 1.067 to 1.077)                                      ((Odds Ratio - 1) * 100). 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2571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Interpretation 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The odds of diabetes increase by 7.2% with age.</a:t>
            </a:r>
          </a:p>
          <a:p>
            <a:pPr marL="2571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Why significant?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CI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(1.067–1.077)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is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entirely above 1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, showing the effect is real, not due to chance.</a:t>
            </a:r>
          </a:p>
          <a:p>
            <a:pPr marL="1428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Smoking (OR = 1.080; CI = 1.001 to 1.164)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2571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Interpretation 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8% higher odds of diabetes with smoking.</a:t>
            </a:r>
          </a:p>
          <a:p>
            <a:pPr marL="2571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Why borderline?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CI barely above 1 (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1.001–1.164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). Since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1 is very close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, the effect is weak but still technically significant.</a:t>
            </a:r>
          </a:p>
          <a:p>
            <a:pPr marL="1428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alcohol (OR = 1.018; CI = 0.924 to 1.123)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2571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Interpretation 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Only a 1.8% increase in odds, very small.</a:t>
            </a:r>
          </a:p>
          <a:p>
            <a:pPr marL="2571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Why NOT significant?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CI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(0.924–1.123)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includes 1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, meaning alcohol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might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have no effect. The result could be due to random chance.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D758E-B4BB-2895-64BF-1D5CBAF6BA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1D33DADB-31B5-DF45-93CB-D6B5C71A14DE}" type="slidenum">
              <a:rPr lang="en-US" smtClean="0"/>
              <a:pPr/>
              <a:t>36</a:t>
            </a:fld>
            <a:endParaRPr lang="en-US" dirty="0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7EC4ED93-B62A-DDC7-2CFE-0A1B8521FA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2166900"/>
              </p:ext>
            </p:extLst>
          </p:nvPr>
        </p:nvGraphicFramePr>
        <p:xfrm>
          <a:off x="2387600" y="21056"/>
          <a:ext cx="2971800" cy="173154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47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2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7236">
                <a:tc gridSpan="4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Odds Ratio Estimates</a:t>
                      </a:r>
                    </a:p>
                  </a:txBody>
                  <a:tcPr marL="34290" marR="34290" marT="17146" marB="17146" anchor="b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656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Effect</a:t>
                      </a:r>
                    </a:p>
                  </a:txBody>
                  <a:tcPr marL="34290" marR="34290" marT="17146" marB="17146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Point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Estimate</a:t>
                      </a:r>
                    </a:p>
                  </a:txBody>
                  <a:tcPr marL="34290" marR="34290" marT="17146" marB="17146" anchor="b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95% Wald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Confidence Limits</a:t>
                      </a:r>
                    </a:p>
                  </a:txBody>
                  <a:tcPr marL="34290" marR="34290" marT="17146" marB="17146" anchor="b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236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current_age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1.072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1.067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1.077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236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Smoking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1.080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1.001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1.164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236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alcohol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1.018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0.924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1.123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236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hypertension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7.753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6.932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8.670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236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kidney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2.436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1.821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3.259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236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cancer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4.933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3.104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7.840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236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heart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2.450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1.918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3.130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DB25C88-2DF2-C6D4-DF7B-C9F165B4E369}"/>
              </a:ext>
            </a:extLst>
          </p:cNvPr>
          <p:cNvSpPr txBox="1"/>
          <p:nvPr/>
        </p:nvSpPr>
        <p:spPr>
          <a:xfrm>
            <a:off x="0" y="1706513"/>
            <a:ext cx="8102600" cy="2401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8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   hypertension (OR = 7.753; CI = 6.932 to 8.670)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114300">
              <a:lnSpc>
                <a:spcPct val="115000"/>
              </a:lnSpc>
              <a:spcAft>
                <a:spcPts val="400"/>
              </a:spcAf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Interpretation 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People with hypertension have 7.75 times higher odds of diabetes.</a:t>
            </a:r>
          </a:p>
          <a:p>
            <a:pPr marL="114300">
              <a:lnSpc>
                <a:spcPct val="115000"/>
              </a:lnSpc>
              <a:spcAft>
                <a:spcPts val="400"/>
              </a:spcAf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Why highly significant?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CI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(6.932–8.670)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is way above 1, confirming a strong, real effect.</a:t>
            </a:r>
          </a:p>
          <a:p>
            <a:pPr marL="1428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   kidney (OR = 2.436; CI = 1.821 to 3.259)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114300">
              <a:lnSpc>
                <a:spcPct val="115000"/>
              </a:lnSpc>
              <a:spcAft>
                <a:spcPts val="400"/>
              </a:spcAf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Interpretation 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About 2.4 times higher odds with kidney issues.</a:t>
            </a:r>
          </a:p>
          <a:p>
            <a:pPr marL="114300">
              <a:lnSpc>
                <a:spcPct val="115000"/>
              </a:lnSpc>
              <a:spcAft>
                <a:spcPts val="400"/>
              </a:spcAf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Why significant?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CI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(1.821–3.259)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is above 1, confirming significance</a:t>
            </a:r>
          </a:p>
          <a:p>
            <a:pPr marL="2571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cancer (OR = 4.933; CI = 3.104 to 7.840)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114300">
              <a:lnSpc>
                <a:spcPct val="115000"/>
              </a:lnSpc>
              <a:spcAft>
                <a:spcPts val="400"/>
              </a:spcAf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Interpretation 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Cancer patients have nearly 5 times higher odds of diabetes.</a:t>
            </a:r>
          </a:p>
          <a:p>
            <a:pPr marL="114300">
              <a:lnSpc>
                <a:spcPct val="115000"/>
              </a:lnSpc>
              <a:spcAft>
                <a:spcPts val="400"/>
              </a:spcAf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Why significant?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CI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(3.104–7.840)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is well above 1, showing a strong effect.</a:t>
            </a:r>
          </a:p>
        </p:txBody>
      </p:sp>
    </p:spTree>
    <p:extLst>
      <p:ext uri="{BB962C8B-B14F-4D97-AF65-F5344CB8AC3E}">
        <p14:creationId xmlns:p14="http://schemas.microsoft.com/office/powerpoint/2010/main" val="37411670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17024-0903-C37B-D197-B76B55AA03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1D33DADB-31B5-DF45-93CB-D6B5C71A14DE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052483-8CC4-A31A-281C-FF062B61B51B}"/>
              </a:ext>
            </a:extLst>
          </p:cNvPr>
          <p:cNvSpPr txBox="1"/>
          <p:nvPr/>
        </p:nvSpPr>
        <p:spPr>
          <a:xfrm>
            <a:off x="203200" y="2209050"/>
            <a:ext cx="7670800" cy="1083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Conclusion :</a:t>
            </a:r>
          </a:p>
          <a:p>
            <a:pPr marL="2571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Strong Risk Factors: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Hypertension, cancer, heart disease, and kidney issues significantly increase diabetes risk.</a:t>
            </a:r>
          </a:p>
          <a:p>
            <a:pPr marL="2571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Moderate Effect: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Age and cigarette use show a smaller but significant increase in risk.</a:t>
            </a:r>
          </a:p>
          <a:p>
            <a:pPr marL="2571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Not Significant: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Alcohol consumption does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not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show a significant effect on diabetes risk.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DA7593-021A-E97B-EF64-78C9C9E29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519516"/>
              </p:ext>
            </p:extLst>
          </p:nvPr>
        </p:nvGraphicFramePr>
        <p:xfrm>
          <a:off x="2082800" y="152400"/>
          <a:ext cx="2895599" cy="220979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22754">
                  <a:extLst>
                    <a:ext uri="{9D8B030D-6E8A-4147-A177-3AD203B41FA5}">
                      <a16:colId xmlns:a16="http://schemas.microsoft.com/office/drawing/2014/main" val="1745501526"/>
                    </a:ext>
                  </a:extLst>
                </a:gridCol>
                <a:gridCol w="661657">
                  <a:extLst>
                    <a:ext uri="{9D8B030D-6E8A-4147-A177-3AD203B41FA5}">
                      <a16:colId xmlns:a16="http://schemas.microsoft.com/office/drawing/2014/main" val="1675823665"/>
                    </a:ext>
                  </a:extLst>
                </a:gridCol>
                <a:gridCol w="655594">
                  <a:extLst>
                    <a:ext uri="{9D8B030D-6E8A-4147-A177-3AD203B41FA5}">
                      <a16:colId xmlns:a16="http://schemas.microsoft.com/office/drawing/2014/main" val="1580984445"/>
                    </a:ext>
                  </a:extLst>
                </a:gridCol>
                <a:gridCol w="655594">
                  <a:extLst>
                    <a:ext uri="{9D8B030D-6E8A-4147-A177-3AD203B41FA5}">
                      <a16:colId xmlns:a16="http://schemas.microsoft.com/office/drawing/2014/main" val="2258078000"/>
                    </a:ext>
                  </a:extLst>
                </a:gridCol>
              </a:tblGrid>
              <a:tr h="209670">
                <a:tc gridSpan="4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Odds Ratio Estimates</a:t>
                      </a:r>
                    </a:p>
                  </a:txBody>
                  <a:tcPr marL="34290" marR="34290" marT="17146" marB="17146" anchor="b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486439"/>
                  </a:ext>
                </a:extLst>
              </a:tr>
              <a:tr h="371054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Effect</a:t>
                      </a:r>
                    </a:p>
                  </a:txBody>
                  <a:tcPr marL="34290" marR="34290" marT="17146" marB="17146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Point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Estimate</a:t>
                      </a:r>
                    </a:p>
                  </a:txBody>
                  <a:tcPr marL="34290" marR="34290" marT="17146" marB="17146" anchor="b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95% Wald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Confidence Limits</a:t>
                      </a:r>
                    </a:p>
                  </a:txBody>
                  <a:tcPr marL="34290" marR="34290" marT="17146" marB="17146" anchor="b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912811"/>
                  </a:ext>
                </a:extLst>
              </a:tr>
              <a:tr h="209670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current_age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1.072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1.067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1.077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4138720852"/>
                  </a:ext>
                </a:extLst>
              </a:tr>
              <a:tr h="209670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Smoking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1.080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1.001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1.164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998795326"/>
                  </a:ext>
                </a:extLst>
              </a:tr>
              <a:tr h="209670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alcohol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1.018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0.924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1.123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2149133881"/>
                  </a:ext>
                </a:extLst>
              </a:tr>
              <a:tr h="371054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hypertension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7.753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6.932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8.670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2760952975"/>
                  </a:ext>
                </a:extLst>
              </a:tr>
              <a:tr h="209670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kidney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2.436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1.821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3.259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2058718141"/>
                  </a:ext>
                </a:extLst>
              </a:tr>
              <a:tr h="209670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cancer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4.933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3.104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7.840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3027250122"/>
                  </a:ext>
                </a:extLst>
              </a:tr>
              <a:tr h="209670">
                <a:tc>
                  <a:txBody>
                    <a:bodyPr/>
                    <a:lstStyle/>
                    <a:p>
                      <a:pPr algn="l"/>
                      <a:r>
                        <a:rPr lang="en-US" sz="800" dirty="0"/>
                        <a:t>heart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2.450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1.918</a:t>
                      </a:r>
                    </a:p>
                  </a:txBody>
                  <a:tcPr marL="34290" marR="34290" marT="17146" marB="17146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/>
                        <a:t>3.130</a:t>
                      </a:r>
                    </a:p>
                  </a:txBody>
                  <a:tcPr marL="34290" marR="34290" marT="17146" marB="17146"/>
                </a:tc>
                <a:extLst>
                  <a:ext uri="{0D108BD9-81ED-4DB2-BD59-A6C34878D82A}">
                    <a16:rowId xmlns:a16="http://schemas.microsoft.com/office/drawing/2014/main" val="355230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43203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9D9EE-D17E-AC75-D2E9-25983FA76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F989A3C-EADF-99D7-3873-C4095DBF7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9" y="609600"/>
            <a:ext cx="7556501" cy="33528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D4F8E4-561F-121C-0C19-719E7F6F47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1D33DADB-31B5-DF45-93CB-D6B5C71A14DE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8676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roc Title 1"/>
          <p:cNvSpPr txBox="1">
            <a:spLocks noGrp="1"/>
          </p:cNvSpPr>
          <p:nvPr/>
        </p:nvSpPr>
        <p:spPr>
          <a:xfrm>
            <a:off x="1892300" y="0"/>
            <a:ext cx="4343400" cy="2095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000" dirty="0"/>
              <a:t>The LOGISTIC Procedure</a:t>
            </a:r>
            <a:endParaRPr lang="en-US" sz="900" dirty="0"/>
          </a:p>
        </p:txBody>
      </p:sp>
      <p:graphicFrame>
        <p:nvGraphicFramePr>
          <p:cNvPr id="151" name="Table 3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289487920"/>
              </p:ext>
            </p:extLst>
          </p:nvPr>
        </p:nvGraphicFramePr>
        <p:xfrm>
          <a:off x="2307287" y="254000"/>
          <a:ext cx="3712213" cy="20320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21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69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7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9550">
                <a:tc gridSpan="6"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Analysis of Maximum Likelihood Estimates</a:t>
                      </a:r>
                      <a:endParaRPr lang="en-US" sz="600" dirty="0"/>
                    </a:p>
                  </a:txBody>
                  <a:tcPr marL="45720" marR="45720" marT="22860" marB="22860" anchor="b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Parameter</a:t>
                      </a:r>
                      <a:endParaRPr lang="en-US" sz="600" dirty="0"/>
                    </a:p>
                  </a:txBody>
                  <a:tcPr marL="45720" marR="45720" marT="22860" marB="2286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DF</a:t>
                      </a:r>
                      <a:endParaRPr lang="en-US" sz="600" dirty="0"/>
                    </a:p>
                  </a:txBody>
                  <a:tcPr marL="45720" marR="45720" marT="22860" marB="2286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Estimate</a:t>
                      </a:r>
                      <a:endParaRPr lang="en-US" sz="600" dirty="0"/>
                    </a:p>
                  </a:txBody>
                  <a:tcPr marL="45720" marR="45720" marT="22860" marB="2286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Standard</a:t>
                      </a:r>
                      <a:br>
                        <a:rPr lang="en-US" sz="600" dirty="0"/>
                      </a:br>
                      <a:r>
                        <a:rPr lang="en-US" sz="1000" dirty="0"/>
                        <a:t>Error</a:t>
                      </a:r>
                      <a:endParaRPr lang="en-US" sz="600" dirty="0"/>
                    </a:p>
                  </a:txBody>
                  <a:tcPr marL="45720" marR="45720" marT="22860" marB="2286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Wald</a:t>
                      </a:r>
                      <a:br>
                        <a:rPr lang="en-US" sz="600" dirty="0"/>
                      </a:br>
                      <a:r>
                        <a:rPr lang="en-US" sz="1000" dirty="0"/>
                        <a:t>Chi-Square</a:t>
                      </a:r>
                      <a:endParaRPr lang="en-US" sz="600" dirty="0"/>
                    </a:p>
                  </a:txBody>
                  <a:tcPr marL="45720" marR="45720" marT="22860" marB="2286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Pr &gt; </a:t>
                      </a:r>
                      <a:br>
                        <a:rPr lang="en-US" sz="600" dirty="0"/>
                      </a:br>
                      <a:r>
                        <a:rPr lang="en-US" sz="1000" dirty="0"/>
                        <a:t>ChiSq</a:t>
                      </a:r>
                      <a:endParaRPr lang="en-US" sz="600" dirty="0"/>
                    </a:p>
                  </a:txBody>
                  <a:tcPr marL="45720" marR="45720" marT="22860" marB="2286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Intercept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1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-6.6620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0.0960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4818.2630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&lt;.0001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current_age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1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0.0698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0.00228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934.5027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&lt;.0001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Smoking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1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0.0802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0.0373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4.6230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0.0315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hypertension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1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2.0495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0.0569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1296.3160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&lt;.0001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kidney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1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0.8915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0.1484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36.0776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&lt;.0001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cancer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1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1.5934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0.2363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45.4691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&lt;.0001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heart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1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0.8957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0.1250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51.3680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&lt;.0001</a:t>
                      </a:r>
                      <a:endParaRPr lang="en-US" sz="600" dirty="0"/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D9055E-96E0-3398-FBDB-594E68C81A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1D33DADB-31B5-DF45-93CB-D6B5C71A14DE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2" name="table">
            <a:extLst>
              <a:ext uri="{FF2B5EF4-FFF2-40B4-BE49-F238E27FC236}">
                <a16:creationId xmlns:a16="http://schemas.microsoft.com/office/drawing/2014/main" id="{7E38F4E5-5FE5-7F03-922F-F24CEE398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660" y="2438400"/>
            <a:ext cx="2577465" cy="18224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4808C-8E89-7E88-C923-98716A4A8E0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1D33DADB-31B5-DF45-93CB-D6B5C71A14D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D03667-9511-EDA0-FB72-D5F11CB2D5D8}"/>
              </a:ext>
            </a:extLst>
          </p:cNvPr>
          <p:cNvSpPr txBox="1"/>
          <p:nvPr/>
        </p:nvSpPr>
        <p:spPr>
          <a:xfrm>
            <a:off x="203200" y="190170"/>
            <a:ext cx="7924800" cy="3089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8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Final model Conclusion :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1428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After applying the stepwise selection, the final model identifies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current_age, Smoking, hypertension, kidney issues, cancer, and heart disease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as significant predictors of diabetes.</a:t>
            </a:r>
          </a:p>
          <a:p>
            <a:pPr marL="171450" indent="-171450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Strong Risk Factors: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Hypertension (OR = 7.76)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cancer (OR = 4.92)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greatly increase the risk of diabetes.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Heart disease (OR = 2.45)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kidney issues (OR = 2.44)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also significantly raise the risk.</a:t>
            </a:r>
          </a:p>
          <a:p>
            <a:pPr marL="171450" indent="-171450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Moderate Risk Factors: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Age (OR = 1.072):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Each additional year slightly increases diabetes risk by 7.2%.</a:t>
            </a:r>
          </a:p>
          <a:p>
            <a:pPr marL="371475" lvl="1" indent="-142875">
              <a:lnSpc>
                <a:spcPct val="115000"/>
              </a:lnSpc>
              <a:spcAft>
                <a:spcPts val="4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Smoking (OR = 1.083):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Smoking raises the risk by 8.3%, with a borderline but significant effect.</a:t>
            </a:r>
          </a:p>
          <a:p>
            <a:pPr marL="142875" indent="-142875">
              <a:lnSpc>
                <a:spcPct val="115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All predictors are statistically significant (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p &lt; 0.05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), indicating they meaningfully contribute to diabetes risk. The model is well-optimized with improved fit and reduced complexity compared to the full model.</a:t>
            </a:r>
          </a:p>
        </p:txBody>
      </p:sp>
    </p:spTree>
    <p:extLst>
      <p:ext uri="{BB962C8B-B14F-4D97-AF65-F5344CB8AC3E}">
        <p14:creationId xmlns:p14="http://schemas.microsoft.com/office/powerpoint/2010/main" val="14820688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F0E95-2C8A-D28A-E3D5-2523B4036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F8243-5AB0-2100-9B8C-427C9CA1AE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1D33DADB-31B5-DF45-93CB-D6B5C71A14DE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3697C6-D101-6F31-7DF6-F73B24046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" y="3174"/>
            <a:ext cx="8102600" cy="424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1218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BA055-D2C1-D7B8-16CE-17E17070AE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1D33DADB-31B5-DF45-93CB-D6B5C71A14DE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7F22E6-3E60-641D-6BF5-A83E9C74BB78}"/>
              </a:ext>
            </a:extLst>
          </p:cNvPr>
          <p:cNvSpPr txBox="1"/>
          <p:nvPr/>
        </p:nvSpPr>
        <p:spPr>
          <a:xfrm>
            <a:off x="25400" y="203258"/>
            <a:ext cx="8077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Summary of Stepwise Selection Models for Chronic Diseases:</a:t>
            </a:r>
          </a:p>
          <a:p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Significant Predictors Across Diseases:</a:t>
            </a:r>
          </a:p>
          <a:p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Age: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Increases the risk for all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Hypertension: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major risk for diabetes, kidney disease, and heart disease.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Diabetes: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Strongly increases the risk of hypertension, kidney disease, cancer, and heart disease.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Kidney Disease &amp; Heart Disease: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Both highly interconnected with other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Cancer: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Strongly associated with heart disease, kidney disease, and diabetes.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Cigarette Smoking &amp; Alcohol: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Moderately increase risk, especially for heart disease, hypertension, and kidney disease.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Risk Factors (High Odds Ratios):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Cancer: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Highest risk for kidney disease and heart disease.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Kidney Disease: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Strong association with cancer and heart disease.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Disease: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Major risk for cancer and diabetes.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Hypertension: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Strong risk for diabetes and heart disease.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Diabetes: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 odds for hypertension and kidney disease.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Moderate Risk Factors: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 , Smoking :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Moderate increase in risk, particularly for hypertension and kidney disease..</a:t>
            </a:r>
          </a:p>
          <a:p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729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3B67B-B155-B748-E252-881F8111F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98" y="992874"/>
            <a:ext cx="8128000" cy="1591733"/>
          </a:xfrm>
        </p:spPr>
        <p:txBody>
          <a:bodyPr>
            <a:normAutofit fontScale="90000"/>
          </a:bodyPr>
          <a:lstStyle/>
          <a:p>
            <a:pPr marL="285750" indent="-285750" algn="l">
              <a:lnSpc>
                <a:spcPct val="115000"/>
              </a:lnSpc>
              <a:spcAft>
                <a:spcPts val="533"/>
              </a:spcAft>
              <a:buFont typeface="Arial" panose="020B0604020202020204" pitchFamily="34" charset="0"/>
              <a:buChar char="•"/>
            </a:pPr>
            <a:r>
              <a:rPr lang="en-US" sz="1800" b="1" kern="1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Correspondence Analysis :</a:t>
            </a:r>
            <a:br>
              <a:rPr lang="en-US" sz="1200" kern="1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200" kern="1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200" kern="1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Correspondence Analysis (CA) is a multivariate statistical technique used to analyze and visualize relationships between categorical variables in a contingency table. </a:t>
            </a:r>
            <a:br>
              <a:rPr lang="en-US" sz="1200" kern="1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200" kern="1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200" kern="1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It is similar to Principal Component Analysis (PCA) but is specifically designed for categorical data.</a:t>
            </a:r>
            <a:br>
              <a:rPr lang="en-US" sz="1200" kern="1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E806E-3870-B5FA-124A-812F23092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73198" y="4217224"/>
            <a:ext cx="502363" cy="243417"/>
          </a:xfrm>
        </p:spPr>
        <p:txBody>
          <a:bodyPr/>
          <a:lstStyle/>
          <a:p>
            <a:fld id="{B6F15528-21DE-4FAA-801E-634DDDAF4B2B}" type="slidenum">
              <a:rPr lang="en-US" smtClean="0"/>
              <a:t>43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A26620-A5B7-98A7-8AA0-1DBA7A7205CE}"/>
              </a:ext>
            </a:extLst>
          </p:cNvPr>
          <p:cNvSpPr txBox="1"/>
          <p:nvPr/>
        </p:nvSpPr>
        <p:spPr>
          <a:xfrm>
            <a:off x="0" y="2584607"/>
            <a:ext cx="8075561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Multiple Correspondence Analysis (MCA) </a:t>
            </a:r>
            <a:endParaRPr lang="en-US" sz="1400" b="1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       MCA is an extension of Correspondence Analysis (CA) used for analyzing relationships among multiple categorical</a:t>
            </a:r>
          </a:p>
          <a:p>
            <a:r>
              <a:rPr lang="en-US" sz="1200" dirty="0"/>
              <a:t>       Variable.</a:t>
            </a:r>
          </a:p>
          <a:p>
            <a:endParaRPr lang="en-US" sz="1200" dirty="0"/>
          </a:p>
          <a:p>
            <a:r>
              <a:rPr lang="en-US" sz="1200" dirty="0"/>
              <a:t>       It helps in identifying patterns and associations within a dataset containing more than two categorical variables.</a:t>
            </a:r>
          </a:p>
          <a:p>
            <a:endParaRPr lang="en-US" sz="1200" dirty="0"/>
          </a:p>
          <a:p>
            <a:r>
              <a:rPr lang="en-US" sz="1200" dirty="0"/>
              <a:t>      Similar to PCA (Principal Component Analysis) but for categorical data.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656AA-473E-6FC7-1C44-AB21D9D49CF9}"/>
              </a:ext>
            </a:extLst>
          </p:cNvPr>
          <p:cNvSpPr txBox="1"/>
          <p:nvPr/>
        </p:nvSpPr>
        <p:spPr>
          <a:xfrm>
            <a:off x="154039" y="-1645"/>
            <a:ext cx="8075561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100" dirty="0"/>
          </a:p>
          <a:p>
            <a:r>
              <a:rPr lang="en-US" sz="2000" dirty="0"/>
              <a:t>Objective 4:</a:t>
            </a:r>
            <a:endParaRPr lang="en-US" sz="1600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 To analyze the association between chronic diseases and their response in order to find patterns between disease response.</a:t>
            </a:r>
          </a:p>
        </p:txBody>
      </p:sp>
    </p:spTree>
    <p:extLst>
      <p:ext uri="{BB962C8B-B14F-4D97-AF65-F5344CB8AC3E}">
        <p14:creationId xmlns:p14="http://schemas.microsoft.com/office/powerpoint/2010/main" val="8161208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4BD7E-7E02-854A-6E2E-C204FC74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2A290-9549-777E-8E88-E11E3AE9F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61BDB-4B39-D672-6E13-399E37948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5637" y="4267200"/>
            <a:ext cx="502363" cy="243417"/>
          </a:xfrm>
        </p:spPr>
        <p:txBody>
          <a:bodyPr/>
          <a:lstStyle/>
          <a:p>
            <a:fld id="{B6F15528-21DE-4FAA-801E-634DDDAF4B2B}" type="slidenum">
              <a:rPr lang="en-US" smtClean="0"/>
              <a:t>44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D5E3D3-DC94-19C5-1E2E-FFA84131A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8128000" cy="4572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448FF3-BF5B-9B50-5E80-A6525164B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154" y="925103"/>
            <a:ext cx="5347446" cy="219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744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4BD7E-7E02-854A-6E2E-C204FC74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2A290-9549-777E-8E88-E11E3AE9F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381BA7-24B7-D42C-ED0A-162CB7AC1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D5E3D3-DC94-19C5-1E2E-FFA84131A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8128000" cy="4572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448FF3-BF5B-9B50-5E80-A6525164B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154" y="925103"/>
            <a:ext cx="5347446" cy="219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262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882BC-68B0-3EEE-5D4C-6D63B8228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2F0086F-A234-9240-70B1-285C6D3E9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54A2DD-88EB-5131-E74B-E3E6C0787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46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BB7380-E72B-F884-8890-E366B97A6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8128000" cy="445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1925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DF82-9AD1-6BD1-BBC6-CFFDC7DAA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5E62B-B395-FEF8-591F-74BA22BB6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2907D-F29A-F271-8EA8-32D4CC732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0A0661-62C6-D5FA-02D7-C9A2CFF36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2504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B06E725-949D-BD63-1311-1BBA73B69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020" y="137652"/>
            <a:ext cx="3495675" cy="21997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AFAD3D-C395-1C37-A5E6-D817F7B48B23}"/>
              </a:ext>
            </a:extLst>
          </p:cNvPr>
          <p:cNvSpPr txBox="1"/>
          <p:nvPr/>
        </p:nvSpPr>
        <p:spPr>
          <a:xfrm>
            <a:off x="146859" y="2472036"/>
            <a:ext cx="7981141" cy="1141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11" indent="-228611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Most responses are "No"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– indicating that the majority of respondents do not have these diseases.</a:t>
            </a:r>
          </a:p>
          <a:p>
            <a:pPr marL="228611" indent="-228611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"Yes" responses are low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– meaning a smaller portion of people reported having these diseases.</a:t>
            </a:r>
          </a:p>
          <a:p>
            <a:pPr marL="228611" indent="-228611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"Don't Know" responses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– some people are unsure whether they have a disease.</a:t>
            </a:r>
          </a:p>
          <a:p>
            <a:pPr marL="228611" indent="-228611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Diabetes has the highest "Yes" responses (2188 cases)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compared to other diseases.</a:t>
            </a:r>
          </a:p>
          <a:p>
            <a:pPr marL="228611" indent="-228611">
              <a:lnSpc>
                <a:spcPct val="115000"/>
              </a:lnSpc>
              <a:spcAft>
                <a:spcPts val="533"/>
              </a:spcAft>
              <a:buFont typeface="Symbol" panose="05050102010706020507" pitchFamily="18" charset="2"/>
              <a:buChar char=""/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Thyroid has the lowest "Yes" responses (409 cases)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2DCE3E-7E56-F690-7821-A702BF0B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2718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6D67DF-1C67-B11D-4AFA-58ABDDCC9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42" y="104878"/>
            <a:ext cx="6089445" cy="417543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502C99-9372-7011-712C-3DF918A0A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0323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C5842A0-E53B-B29E-7723-E155798C9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66" y="0"/>
            <a:ext cx="6379596" cy="162650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E8A5FC1-235C-6BE4-366B-B07C9D206227}"/>
              </a:ext>
            </a:extLst>
          </p:cNvPr>
          <p:cNvSpPr txBox="1"/>
          <p:nvPr/>
        </p:nvSpPr>
        <p:spPr>
          <a:xfrm>
            <a:off x="135775" y="1626503"/>
            <a:ext cx="79922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1. Singular Value &amp; Inertia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Singular Values</a:t>
            </a:r>
            <a:r>
              <a:rPr lang="en-US" sz="1200" dirty="0"/>
              <a:t>: These indicate how much variance each dimension (axis) explains.</a:t>
            </a:r>
          </a:p>
          <a:p>
            <a:pPr marL="495325" lvl="1" indent="-190510">
              <a:buFont typeface="Arial" panose="020B0604020202020204" pitchFamily="34" charset="0"/>
              <a:buChar char="•"/>
            </a:pPr>
            <a:r>
              <a:rPr lang="en-US" sz="1200" b="1" dirty="0"/>
              <a:t>Dimension 1 (0.061)</a:t>
            </a:r>
            <a:r>
              <a:rPr lang="en-US" sz="1200" dirty="0"/>
              <a:t> explains most of the variation.</a:t>
            </a:r>
          </a:p>
          <a:p>
            <a:pPr marL="495325" lvl="1" indent="-190510">
              <a:buFont typeface="Arial" panose="020B0604020202020204" pitchFamily="34" charset="0"/>
              <a:buChar char="•"/>
            </a:pPr>
            <a:r>
              <a:rPr lang="en-US" sz="1200" b="1" dirty="0"/>
              <a:t>Dimension 2 (0.012)</a:t>
            </a:r>
            <a:r>
              <a:rPr lang="en-US" sz="1200" dirty="0"/>
              <a:t> explains a much smaller portion.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Inertia</a:t>
            </a:r>
            <a:r>
              <a:rPr lang="en-US" sz="1200" dirty="0"/>
              <a:t>: It represents how much information is captured by each dimension.</a:t>
            </a:r>
          </a:p>
          <a:p>
            <a:pPr marL="495325" lvl="1" indent="-190510">
              <a:buFont typeface="Arial" panose="020B0604020202020204" pitchFamily="34" charset="0"/>
              <a:buChar char="•"/>
            </a:pPr>
            <a:r>
              <a:rPr lang="en-US" sz="1200" b="1" dirty="0"/>
              <a:t>Total inertia (0.004)</a:t>
            </a:r>
            <a:r>
              <a:rPr lang="en-US" sz="1200" dirty="0"/>
              <a:t> is the sum of all individual inertia values.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D8F9FB-709B-93F7-2048-D17994117444}"/>
              </a:ext>
            </a:extLst>
          </p:cNvPr>
          <p:cNvSpPr txBox="1"/>
          <p:nvPr/>
        </p:nvSpPr>
        <p:spPr>
          <a:xfrm>
            <a:off x="67888" y="3039447"/>
            <a:ext cx="80601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2. Chi-Square &amp; Significance (Sig.)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Chi-Square (2721.144)</a:t>
            </a:r>
            <a:r>
              <a:rPr lang="en-US" sz="1200" dirty="0"/>
              <a:t>: This tests whether there is a significant relationship between the row and column variables in the contingency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Significance (p-value = 0.000)</a:t>
            </a:r>
            <a:r>
              <a:rPr lang="en-US" sz="1200" dirty="0"/>
              <a:t>: Since p-value is </a:t>
            </a:r>
            <a:r>
              <a:rPr lang="en-US" sz="1200" b="1" dirty="0"/>
              <a:t>very small (&lt; 0.05)</a:t>
            </a:r>
            <a:r>
              <a:rPr lang="en-US" sz="1200" dirty="0"/>
              <a:t>, we conclude that there is a </a:t>
            </a:r>
            <a:r>
              <a:rPr lang="en-US" sz="1200" b="1" dirty="0"/>
              <a:t>statistically significant</a:t>
            </a:r>
            <a:r>
              <a:rPr lang="en-US" sz="1200" dirty="0"/>
              <a:t> relationship between the categorical variables.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36F132-B9EF-6326-072B-BED25DCBA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0070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A500D4-98A7-9312-173B-3B5AB2E3D3AF}"/>
              </a:ext>
            </a:extLst>
          </p:cNvPr>
          <p:cNvSpPr txBox="1"/>
          <p:nvPr/>
        </p:nvSpPr>
        <p:spPr>
          <a:xfrm>
            <a:off x="0" y="211460"/>
            <a:ext cx="80504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Proportion of Inertia</a:t>
            </a:r>
          </a:p>
          <a:p>
            <a:r>
              <a:rPr lang="en-US" sz="1200" dirty="0"/>
              <a:t>This tells us how much of the total variation is explained by each dimension.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Dimension 1 (96.1%)</a:t>
            </a:r>
            <a:r>
              <a:rPr lang="en-US" sz="1200" dirty="0"/>
              <a:t> explains most of the variation in the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Dimension 2 (3.9%)</a:t>
            </a:r>
            <a:r>
              <a:rPr lang="en-US" sz="1200" dirty="0"/>
              <a:t> contributes very little.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Cumulative (100%)</a:t>
            </a:r>
            <a:r>
              <a:rPr lang="en-US" sz="1200" dirty="0"/>
              <a:t> means both dimensions together explain the total variation.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494B6E-31C0-D7CD-027C-40FC15FEE2B5}"/>
              </a:ext>
            </a:extLst>
          </p:cNvPr>
          <p:cNvSpPr txBox="1"/>
          <p:nvPr/>
        </p:nvSpPr>
        <p:spPr>
          <a:xfrm>
            <a:off x="-38793" y="1497071"/>
            <a:ext cx="812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4. Confidence Measures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Standard Deviation</a:t>
            </a:r>
            <a:r>
              <a:rPr lang="en-US" sz="1200" dirty="0"/>
              <a:t>: A measure of uncertainty in the singular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Correlation (Dimension 2: -0.026)</a:t>
            </a:r>
            <a:r>
              <a:rPr lang="en-US" sz="1200" dirty="0"/>
              <a:t>: This is related to the quality of representation but is not a major focus.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D0540E-612E-7C76-AD27-AD027419B171}"/>
              </a:ext>
            </a:extLst>
          </p:cNvPr>
          <p:cNvSpPr txBox="1"/>
          <p:nvPr/>
        </p:nvSpPr>
        <p:spPr>
          <a:xfrm>
            <a:off x="-38793" y="2582077"/>
            <a:ext cx="808920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Interpretation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Since Dimension 1 captures 96.1% of the variation</a:t>
            </a:r>
            <a:r>
              <a:rPr lang="en-US" sz="1200" dirty="0"/>
              <a:t>, the first dimension is the most important for understanding the relationships.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The Chi-square test confirms that the categorical variables are significantly associated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The second dimension (3.9%) adds minimal extra information</a:t>
            </a:r>
            <a:r>
              <a:rPr lang="en-US" sz="1200" dirty="0"/>
              <a:t> and might not be crucial for interpretation.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BB1267-FE73-C69E-1E43-E616604F0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138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4101A4-F5F9-45A2-8F29-257807A84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6" y="27617"/>
            <a:ext cx="8010727" cy="451300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54DCA2-7E90-23F2-416B-2FF40C9B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1590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56B5BC-6E22-CD31-30DC-DCAE143966BF}"/>
              </a:ext>
            </a:extLst>
          </p:cNvPr>
          <p:cNvSpPr txBox="1"/>
          <p:nvPr/>
        </p:nvSpPr>
        <p:spPr>
          <a:xfrm>
            <a:off x="157942" y="291501"/>
            <a:ext cx="7844443" cy="781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11" indent="-228611">
              <a:lnSpc>
                <a:spcPct val="115000"/>
              </a:lnSpc>
              <a:spcAft>
                <a:spcPts val="533"/>
              </a:spcAft>
              <a:buSzPts val="1000"/>
              <a:buFont typeface="Symbol" panose="05050102010706020507" pitchFamily="18" charset="2"/>
              <a:buChar char=""/>
              <a:tabLst>
                <a:tab pos="304815" algn="l"/>
              </a:tabLs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Most diseases (Diabetes, Kidney, Hypertension, Heart, Cancer, Thyroid) are clustered close together near "No."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228611" indent="-228611">
              <a:lnSpc>
                <a:spcPct val="115000"/>
              </a:lnSpc>
              <a:spcAft>
                <a:spcPts val="533"/>
              </a:spcAft>
              <a:buSzPts val="1000"/>
              <a:buFont typeface="Symbol" panose="05050102010706020507" pitchFamily="18" charset="2"/>
              <a:buChar char=""/>
              <a:tabLst>
                <a:tab pos="304815" algn="l"/>
              </a:tabLs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This suggests that these diseases are more commonly associated with respondents answering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"No"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rather than "Yes" or "Don't Know."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0E9D84-3519-91D1-5554-2EE5FD28AEE5}"/>
              </a:ext>
            </a:extLst>
          </p:cNvPr>
          <p:cNvSpPr txBox="1"/>
          <p:nvPr/>
        </p:nvSpPr>
        <p:spPr>
          <a:xfrm>
            <a:off x="0" y="1250675"/>
            <a:ext cx="8128000" cy="845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8">
              <a:lnSpc>
                <a:spcPct val="115000"/>
              </a:lnSpc>
              <a:spcAft>
                <a:spcPts val="533"/>
              </a:spcAf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Asthma is slightly higher on Dim .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228611" indent="-228611">
              <a:lnSpc>
                <a:spcPct val="115000"/>
              </a:lnSpc>
              <a:spcAft>
                <a:spcPts val="533"/>
              </a:spcAft>
              <a:buSzPts val="1000"/>
              <a:buFont typeface="Symbol" panose="05050102010706020507" pitchFamily="18" charset="2"/>
              <a:buChar char=""/>
              <a:tabLst>
                <a:tab pos="304815" algn="l"/>
              </a:tabLs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This suggests that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Asthma is more associated with "Yes" responses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than other diseases.</a:t>
            </a:r>
          </a:p>
          <a:p>
            <a:pPr marL="228611" indent="-228611">
              <a:lnSpc>
                <a:spcPct val="115000"/>
              </a:lnSpc>
              <a:spcAft>
                <a:spcPts val="533"/>
              </a:spcAft>
              <a:buSzPts val="1000"/>
              <a:buFont typeface="Symbol" panose="05050102010706020507" pitchFamily="18" charset="2"/>
              <a:buChar char=""/>
              <a:tabLst>
                <a:tab pos="304815" algn="l"/>
              </a:tabLs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It has a different response pattern compared to conditions like Hypertension or Kidney disease.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58000A-9272-3B14-AB4F-54ED5F20D1C5}"/>
              </a:ext>
            </a:extLst>
          </p:cNvPr>
          <p:cNvSpPr txBox="1"/>
          <p:nvPr/>
        </p:nvSpPr>
        <p:spPr>
          <a:xfrm>
            <a:off x="18011" y="2286001"/>
            <a:ext cx="8109989" cy="845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8">
              <a:lnSpc>
                <a:spcPct val="115000"/>
              </a:lnSpc>
              <a:spcAft>
                <a:spcPts val="533"/>
              </a:spcAft>
            </a:pP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Don't Know" is positioned far down on Dimension .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228611" indent="-228611">
              <a:lnSpc>
                <a:spcPct val="115000"/>
              </a:lnSpc>
              <a:spcAft>
                <a:spcPts val="533"/>
              </a:spcAft>
              <a:buSzPts val="1000"/>
              <a:buFont typeface="Symbol" panose="05050102010706020507" pitchFamily="18" charset="2"/>
              <a:buChar char=""/>
              <a:tabLst>
                <a:tab pos="304815" algn="l"/>
              </a:tabLs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This suggests that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"Don't Know" responses are quite different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from both "Yes" and "No."</a:t>
            </a:r>
          </a:p>
          <a:p>
            <a:pPr marL="228611" indent="-228611">
              <a:lnSpc>
                <a:spcPct val="115000"/>
              </a:lnSpc>
              <a:spcAft>
                <a:spcPts val="533"/>
              </a:spcAft>
              <a:buSzPts val="1000"/>
              <a:buFont typeface="Symbol" panose="05050102010706020507" pitchFamily="18" charset="2"/>
              <a:buChar char=""/>
              <a:tabLst>
                <a:tab pos="304815" algn="l"/>
              </a:tabLs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Diseases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far from "Don't Know" 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are more confidently answered with "Yes" or "No."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BA6E4A-0D9B-3DEB-7CCE-6FB7BC1DD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2564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500FDA-31B2-E19B-2D87-6949DF72E9F2}"/>
              </a:ext>
            </a:extLst>
          </p:cNvPr>
          <p:cNvSpPr txBox="1"/>
          <p:nvPr/>
        </p:nvSpPr>
        <p:spPr>
          <a:xfrm>
            <a:off x="0" y="373066"/>
            <a:ext cx="8128000" cy="1887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33"/>
              </a:spcAft>
              <a:buSzPts val="1000"/>
              <a:tabLst>
                <a:tab pos="304815" algn="l"/>
              </a:tabLs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Interpretation :</a:t>
            </a:r>
          </a:p>
          <a:p>
            <a:pPr>
              <a:lnSpc>
                <a:spcPct val="115000"/>
              </a:lnSpc>
              <a:spcAft>
                <a:spcPts val="533"/>
              </a:spcAft>
              <a:buSzPts val="1000"/>
              <a:tabLst>
                <a:tab pos="304815" algn="l"/>
              </a:tabLst>
            </a:pP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228611" indent="-228611">
              <a:lnSpc>
                <a:spcPct val="115000"/>
              </a:lnSpc>
              <a:spcAft>
                <a:spcPts val="533"/>
              </a:spcAft>
              <a:buSzPts val="1000"/>
              <a:buFont typeface="Symbol" panose="05050102010706020507" pitchFamily="18" charset="2"/>
              <a:buChar char=""/>
              <a:tabLst>
                <a:tab pos="304815" algn="l"/>
              </a:tabLs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Diseases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close to "No" (like Kidney, Hypertension, Diabetes, Cancer)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→ More people responded "No" when asked about these conditions.</a:t>
            </a:r>
          </a:p>
          <a:p>
            <a:pPr marL="228611" indent="-228611">
              <a:lnSpc>
                <a:spcPct val="115000"/>
              </a:lnSpc>
              <a:spcAft>
                <a:spcPts val="533"/>
              </a:spcAft>
              <a:buSzPts val="1000"/>
              <a:buFont typeface="Symbol" panose="05050102010706020507" pitchFamily="18" charset="2"/>
              <a:buChar char=""/>
              <a:tabLst>
                <a:tab pos="304815" algn="l"/>
              </a:tabLs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Diseases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closer to "Yes" (like Asthma)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 As compared to other .</a:t>
            </a:r>
          </a:p>
          <a:p>
            <a:pPr marL="228611" indent="-228611">
              <a:lnSpc>
                <a:spcPct val="115000"/>
              </a:lnSpc>
              <a:spcAft>
                <a:spcPts val="533"/>
              </a:spcAft>
              <a:buSzPts val="1000"/>
              <a:buFont typeface="Symbol" panose="05050102010706020507" pitchFamily="18" charset="2"/>
              <a:buChar char=""/>
              <a:tabLst>
                <a:tab pos="304815" algn="l"/>
              </a:tabLs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Diseases </a:t>
            </a:r>
            <a:r>
              <a:rPr lang="en-US" sz="1200" b="1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far from "Don't Know"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 → Respondents were more confident in their answers.</a:t>
            </a:r>
          </a:p>
          <a:p>
            <a:pPr marL="152408">
              <a:lnSpc>
                <a:spcPct val="115000"/>
              </a:lnSpc>
              <a:spcAft>
                <a:spcPts val="533"/>
              </a:spcAf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Shruti" panose="020B0502040204020203" pitchFamily="34" charset="0"/>
              </a:rPr>
              <a:t>This plot helps identify which diseases are more commonly acknowledged ("Yes"), denied ("No"), or uncertain ("Don't Know").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22C6F7-E549-FF1F-5F43-45F7E35BB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6816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01B690D-64F6-0875-4830-B110B084D0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6732488"/>
              </p:ext>
            </p:extLst>
          </p:nvPr>
        </p:nvGraphicFramePr>
        <p:xfrm>
          <a:off x="277091" y="210589"/>
          <a:ext cx="7370619" cy="43614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C2D1E7-F196-28C2-EC26-3DA9C19D8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6056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81D1A0-7FA2-E751-64B1-AA8B0939D5D3}"/>
              </a:ext>
            </a:extLst>
          </p:cNvPr>
          <p:cNvSpPr txBox="1"/>
          <p:nvPr/>
        </p:nvSpPr>
        <p:spPr>
          <a:xfrm>
            <a:off x="367728" y="962209"/>
            <a:ext cx="78001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Asthma is positioned higher on Dimension2 </a:t>
            </a:r>
            <a:r>
              <a:rPr lang="en-US" sz="1200" dirty="0"/>
              <a:t>, indicating it has a distinct response pattern compared to other diseases.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418305-1AED-C8AC-8162-5EAED25D1628}"/>
              </a:ext>
            </a:extLst>
          </p:cNvPr>
          <p:cNvSpPr txBox="1"/>
          <p:nvPr/>
        </p:nvSpPr>
        <p:spPr>
          <a:xfrm>
            <a:off x="381587" y="2362200"/>
            <a:ext cx="78001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Heart, Cancer, and Kidney diseases cluster together</a:t>
            </a:r>
            <a:r>
              <a:rPr lang="en-US" sz="1200" dirty="0"/>
              <a:t>, suggesting similar response patterns.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E8D441-A94D-F0F3-E338-E2B4F1415A3D}"/>
              </a:ext>
            </a:extLst>
          </p:cNvPr>
          <p:cNvSpPr txBox="1"/>
          <p:nvPr/>
        </p:nvSpPr>
        <p:spPr>
          <a:xfrm>
            <a:off x="381587" y="2988006"/>
            <a:ext cx="78001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Hypertension</a:t>
            </a:r>
            <a:r>
              <a:rPr lang="en-US" sz="1200" dirty="0"/>
              <a:t> lies in the lower-left quadrant (negative in both dimensions), suggesting its profile is also quite different from other diseases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16A4CC-6047-3300-8C38-B40225DEFA78}"/>
              </a:ext>
            </a:extLst>
          </p:cNvPr>
          <p:cNvSpPr txBox="1"/>
          <p:nvPr/>
        </p:nvSpPr>
        <p:spPr>
          <a:xfrm>
            <a:off x="386886" y="3685552"/>
            <a:ext cx="75784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Thyroid is slightly separated</a:t>
            </a:r>
            <a:r>
              <a:rPr lang="en-US" sz="1200" dirty="0"/>
              <a:t>, meaning its response pattern is somewhat different from the clustered diseases.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7667E9-C585-28FA-C9C8-874E3EB59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B97031-CE30-4663-C82F-54490C4DF68C}"/>
              </a:ext>
            </a:extLst>
          </p:cNvPr>
          <p:cNvSpPr txBox="1"/>
          <p:nvPr/>
        </p:nvSpPr>
        <p:spPr>
          <a:xfrm>
            <a:off x="351099" y="1588015"/>
            <a:ext cx="792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Diabetes</a:t>
            </a:r>
            <a:r>
              <a:rPr lang="en-US" sz="1200" dirty="0"/>
              <a:t> is placed far left on Dimension 2, making it distinct from other diseases. This position implies it contributes differently to the overall variability.</a:t>
            </a:r>
          </a:p>
        </p:txBody>
      </p:sp>
    </p:spTree>
    <p:extLst>
      <p:ext uri="{BB962C8B-B14F-4D97-AF65-F5344CB8AC3E}">
        <p14:creationId xmlns:p14="http://schemas.microsoft.com/office/powerpoint/2010/main" val="28408826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1FFEE7-2DB6-7A49-C7B3-4E11873BE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55935E-2056-D2DD-1E2D-9C4BD8B8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9762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614</TotalTime>
  <Words>5169</Words>
  <Application>Microsoft Office PowerPoint</Application>
  <PresentationFormat>Custom</PresentationFormat>
  <Paragraphs>1311</Paragraphs>
  <Slides>57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8" baseType="lpstr">
      <vt:lpstr>Arial</vt:lpstr>
      <vt:lpstr>Calibri</vt:lpstr>
      <vt:lpstr>Calisto MT</vt:lpstr>
      <vt:lpstr>Carlito</vt:lpstr>
      <vt:lpstr>Courier New</vt:lpstr>
      <vt:lpstr>Nimbus Roman No9 L</vt:lpstr>
      <vt:lpstr>Symbol</vt:lpstr>
      <vt:lpstr>Times New Roman</vt:lpstr>
      <vt:lpstr>Wingdings</vt:lpstr>
      <vt:lpstr>Wingdings 2</vt:lpstr>
      <vt:lpstr>Slate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Descriptive Statistics </vt:lpstr>
      <vt:lpstr>Frequency Table for Diabetes</vt:lpstr>
      <vt:lpstr>Frequency Table for Hypertension</vt:lpstr>
      <vt:lpstr>Frequency Table for Respitory_asthma</vt:lpstr>
      <vt:lpstr>Frequency Table for Goitre</vt:lpstr>
      <vt:lpstr>Frequency Table for Heart</vt:lpstr>
      <vt:lpstr>Frequency Table for Cancer</vt:lpstr>
      <vt:lpstr>Frequency Table for Kidney</vt:lpstr>
      <vt:lpstr>Frequency Table for age_5_Years</vt:lpstr>
      <vt:lpstr>PowerPoint Presentation</vt:lpstr>
      <vt:lpstr>Frequency Table for Smoking</vt:lpstr>
      <vt:lpstr>Frequency Table for alcohol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Correspondence Analysis :  Correspondence Analysis (CA) is a multivariate statistical technique used to analyze and visualize relationships between categorical variables in a contingency table.   It is similar to Principal Component Analysis (PCA) but is specifically designed for categorical data.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Monu Prajapati</dc:creator>
  <cp:lastModifiedBy>Monu Prajapati</cp:lastModifiedBy>
  <cp:revision>43</cp:revision>
  <dcterms:created xsi:type="dcterms:W3CDTF">2024-12-30T15:43:50Z</dcterms:created>
  <dcterms:modified xsi:type="dcterms:W3CDTF">2025-03-22T06:53:34Z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2024-12-30T00:00:00Z</vt:filetime>
  </property>
  <property fmtid="{D5CDD505-2E9C-101B-9397-08002B2CF9AE}" pid="3" name="LastSaved">
    <vt:filetime>2024-12-30T00:00:00Z</vt:filetime>
  </property>
  <property fmtid="{D5CDD505-2E9C-101B-9397-08002B2CF9AE}" pid="4" name="Producer">
    <vt:lpwstr>3-Heights(TM) PDF Security Shell 4.8.25.2 (http://www.pdf-tools.com)</vt:lpwstr>
  </property>
</Properties>
</file>